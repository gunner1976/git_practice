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Figure 1-3 Block Base Map verbiage.docx (Drive 1hSasL3U); docs/13_cnh_filings_gis_cmi.md; Tecolutla 3D Seismic Interpretation Summary.docx (14mWChMG).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PEMEX informes finales TEC-5/6 (19i5buDs, 1c2-WKxk), estados mecánicos, CNH database (task 4), Tonalli letters to PEP 8 Feb and 21 Jul 2022 (1Z5EAMWG, 1BJf7OGI), 2022 Purchase and Sale Transactions memo (1ffaRgaw), Fideicomiso 2024-2025 (1XSHXSKe).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Plan de Desarrollo has never been approved; the field has produced under the evaluation period and the transition programme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PEMEX informes finales and estados mecánicos (Drive ids in drive_reads_notes.md), Tecolutla Well Header Information.csv, data/processed/tecolutla_production.csv, GLJ Map 2 Top Depth Structure YE2019 (1xGo-WvP), IHS PTA reports, Anexo 4 aviso de abandono temporal TEC-11.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Casing sources: TECOLUTLA_6_INFORME_FINAL (1c2-WKxk), BLOQUE_TECOLUTLA_5/7/9/101_ESTADO_MECANICO (1VCktsVx, 1UZlBMHq, 1ys9wOiU, 1a00morB), Anexo 3 estado mecanico final tec-7 (11Wasndd), Halliburton TEC-10 reports (1_5UzGZI, 16_dQsnw, 10f2RlOT), TEC-11 TR 7 report (1CL89Fst), Anexo 4 aviso abandono temporal (18kU9Zb7), TECOLUTLA_2_Daily Drilling Reports (1oHDmwaM), CNH cédulas Tec-2/Tec-3/Tec-7 (1P4eFDsW, 1PpxStcY, 1tUSdBpr), PEMEX estado mecánico TEC-3 (1XtyXmV6).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data/processed/tecolutla_production.csv; docs/04_production_database.md; data/processed/production_summary.json.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data/processed/pressure/tecolutla_pressures.csv (src/pressure_db.py); docs/05_pressure.md; TEC-10 on KB 6.13 m (G-46 closed).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docs/05_pressure.md; IHS PTA reports; fluids_rock_core_notes.md §4 (temperatures).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data/processed/production_summary.json; docs/04; docs/13 (CNH filings); docs/15 (settlements).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docs/06_forecast.md; data/processed/forecast/summary.json.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fluids_rock_core_notes.md §1 (file/page for each row). Reading: the reservoir oil is a consistent 28-31 °API, 1.1-1.7 % S sour-ish crude; the PEMEX Ronda-1 table (20 °API, 11.2 cp) describes Ezequiel Ordóñez-41, not Tecolutla.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fluids_rock_core_notes.md §2-3. PEMEX petrophysics used 45,000 ppm and Rw 0.075 ohm·m at 65 °C; the repo Archie pass uses Rw 0.054 at 98.6 °C, bracketed by the two 2018 waters (0.048-0.074 at reservoir temperature). Field-titration salinities during the tests (19-22 kppm at TEC-10, 69-91 kppm at TEC-2) do not match the laboratory TDS; neither analysis is tied to 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fluids_rock_core_notes.md §4 and Reader's notes. Two errors in PVT Calculator (Tecolutla).xlsx: Oil!K11 temperature conversion, and the oil SG passed as gas gravity. With the measured gas gravity and 28-30 °API, an Rs of 550-750 scf/bbl gives Pb of roughly 2,700-3,500 psia at 98 °C: the reservoir is near-saturated, which is consistent with TEC-10's GOR rise at low tubing pressure. One bottom-hole sample from TEC-10 would close G-31.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Stratascan V603-18 (Tecolutla10_ReporteFinal text), plug workbook Tecolutla10N1(3)PetrofBasica, petrography PDF (1OG5lzvl). Hand specimen: 'posibles trazas de aceite'; thin sections: no hydrocarbons in all six; Dean-Stark 14-59 % PV oil. Core so fractured it stayed in the sleeve; Weatherford: 'El Abra es un mudstone-wackestone muy fracturado'. Spectral GR 10-34 API, K 0.03-0.24 %. Depositional environment: outer platform. The lab's 'Cretácico Superior' and the Globotruncana wackestone deserve a geologist's look at the El Abra top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fluids_rock_core_notes.md §6; docs/09, docs/13, docs/14; data/processed/petrophysics/summary.json.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docs/09_log_panel.md; docs/14_sw_sensitivity.md; figures 15-16.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geology_geophysics_notes.md §1, §10.3; images from 6 -Resumen Campo Tecolutla.docx figures iii.1 and iv.1.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geology_geophysics_notes.md §2.1 and §10.5. Top El Abra per well on the GLJ YE2019 map (mSS): TEC-6 -2,294; TEC-9 -2,296; TEC-2 -2,302; TEC-7 -2,304; TEC-10 -2,310; TEC-11 -2,312; TEC-101 -2,334; TEC-5 -2,551. TEC-2 has three different top picks in the files (2,304 / 2,307 / 2,316-2,320 mMD); TEC-11's mud log names no formations (carbonate-dominant from 2,360 mMD). The TEC-12 prognosis reproduces the TEC-6 tops within a few metres: it is a TEC-6 analogue, not a seismic depth at the TEC-12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geology_geophysics_notes.md §3, §8, §10.6. Image sources: Resumen figure iii.2; ElAbra Depth Tec12.pptx.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geology_geophysics_notes.md §2.2, §4; docs/03, docs/09, docs/14.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Abra Trend Field Analogies.xlsx (45 rows); data/processed/volumetrics/summary.json trend_rf; docs/07_volumetrics.md.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Tecolutla 3D Seismic Interpretation Summary.docx (14mWChMG); Petrel Robertson Tec-12 Assessment.pdf; Programa de perforación Tecolutla 12 pp10-15; Tec 12 Seismic images.pptx.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geology_geophysics_notes.md §5, §7,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docs/15_pemex_settlements.md; data/processed/price/; Tonalli letters to PEP 2022; ESPECIFICACION DE SISTEMA DE TRANSPORTE (1LawOYRR); Copia de Tecolutla (Pemex Feb 2020 Pricing Calc).xlsx (1TMCaeXh); TDH letter (1zM6upX2).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Tonalli 2019 Budget and 2019 Forecasts Analysis - FINAL.docx (1DvcwTMU); docs/15; fluids notes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accounting_notes.md §2-§9 with sheet/row provenance; n/s = not in sheets. Sources: TONALLI BUDGET - Actual 2019 Forecast 2020 (1JyC2TvK), Tonalli Cash Dec 31 2022 (1TrF0pz3), Summary of Cash Calls Sep 2024 (19JmTOqp), 06_CashFlow acumulado (1AnU2ero), docs/15 for 2020-22 revenue. Two renderings were truncated by the connector at ~1 MB, so 2020-21 actuals and the 2022 AP/AR/VAT sheets are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accounting_notes.md §2; drilling-cost workbooks (E, F, G); docs/08_afe.md.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accounting_notes.md §6-§8; Tonalli 2019 Budget and Forecasts Analysis (directors' memo, 1DvcwTMU); 2022 Purchase and Sale Transactions memo (1ffaRgaw) for the ownership change the accounting sheets do not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accounting_notes.md §9-§10.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wells_ops_reserves_notes.md §4.1-4.2. GLJ YE2020 to YE2021 reconciliation: total 2P 862 + 40 technical revisions - 17 production = 885 kbbl. GLJ economic parameters: 88 % of Brent less 2.73-2.79 USD/bbl transport; royalty burden ~39 % of revenue; opex 1,400-1,670 USD/well/month + 3.75-5.85 USD/bbl + 227-276 kUSD/yr field; capital TEC-12 USD 1.5 MM, TEC-13 USD 2.4 MM; abandonment 75 kUSD/well. GLJ's TEC-10 2P profile was overtaken by actual decline within a year (G-39).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docs/07_volumetrics.md; wells_ops_reserves_notes.md §4.3; GLJ method: Petrel model from Tonalli, porosity from TEC-9 and TEC-10 only, Sw 30 % by Simandoux at TEC-9, N/G 40 %, OWC -2,374.2 mSS (LKO in TEC-3); low case only south of TEC-11 because of the TEC-11 water. The 7.8 vs 11.2 difference is petrophysics (porosity and N/G), not geometry (task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docs/06, docs/07, docs/10, docs/15; wells_ops_reserves_notes.md §4.4-4.6.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wells_ops_reserves_notes.md §3.1-3.4. The SASISOPA inventory (107 lines, Apr 2020) is a materials list: wellheads and trees (7 1/16 in 5,000 psi), casing and tubing tallies for TEC-10 and TEC-11, stimulation tools, pumps, hoses, SCBA, the flowline, separator and burner; no tank farm appears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wells_ops_reserves_notes.md §3.3; accounting_notes.md §4, §8; docs/13.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wells_ops_reserves_notes.md §3.5-3.8; accounting_notes.md §4-§5; drive_reads_notes.md.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docs/gaps.md; docs/Tecolutla_Field_History_and_TEC12_Review_v4.md.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Tecolutla field, Contractual Area 24: block and development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Technical handover to the incoming operator: wells, wellbores, pressure, production, fluids, rock and core, geology and geophysics, reserves, accounting since Tonalli took over, crude marketing, operations.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Prepared by Kevin Gunning, P.Eng., September 2026, on the reconciled data package (docs/, data/processed/) and the Tonalli Drive files listed in data/processed/deck_notes/.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Conventions: depths mMD below KB or mSS as labelled (TEC-10 on the directional survey, KB 6.13 m); pressures at 2,300 mSS; USD unless labelled MXN or CAD; nothing interpolated; gaps stated on the slide where they bite.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1  Block overview and chronology 1956-2024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2  Well-by-well histories and wellbore schematics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3  Pressure history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4  Production summary and charts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5  Fluid analysis: oil, gas, water, PVT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6  Rock analysis and the TEC-10 core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7  Geology with regional context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8  Geophysics: the 3D survey and its interpretation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9  Reserves and resources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10 Accounting summary since Tonalli took over (2016-2024)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11 Crude marketing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12 Operations overview</a:t>
            </a:r>
          </a:p>
          <a:p>
            <a:pPr>
              <a:spcAft>
                <a:spcPts val="500"/>
              </a:spcAft>
              <a:defRPr sz="1400">
                <a:solidFill>
                  <a:srgbClr val="0B0B0B"/>
                </a:solidFill>
              </a:defRPr>
            </a:pPr>
            <a:r>
              <a:t>13 What the incoming operator inherits: decisions, gaps and the register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1. Block overview and chronology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Contractual Area 24 (Tecolutla), Tampico-Misantla basin, Veracruz; licence CNH-R01-L03-A24/2016 (Round 1.3).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Nine PEMEX-era wells 1956-1973, four producers; Tonalli Energía from 2016: TEC-2 workover, TEC-10 and TEC-11 drilled 2018; shut in since February 2022.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The block: location, wells and offset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</a:t>
            </a:r>
          </a:p>
        </p:txBody>
      </p:sp>
      <p:pic>
        <p:nvPicPr>
          <p:cNvPr id="4" name="Picture 3" descr="13_cnh_poly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91440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About 60 km ESE of Poza Rica, municipality of Tecolutla; wells 5.5 km NE of highway 180 via Plan de Villa Cuauhtémoc; nearest towns Gutiérrez Zamora and Tecolutla (2017 Plan de Evaluación base-map captions).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CNH field polygon 3.14 km², all nine wells inside (task 13); contract area 7.2 km² carries the surface fee in the fiscal terms.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Offsets: Miguel Hidalgo field to the NW (separated by the structurally low TEC-5), Ignacio Allende to the SE, San Andrés block and Paso de Oro to the SW.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PEMEX produced every well to a single-well battery and vented the gas; no separation or measurement facility existed in the block at handover in 2016.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Legacy 3D seismic (~150 km²) covers the whole block and Miguel Hidalgo; reprocessed by Tonalli in 2017-18 (section 8).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Wells: TEC-2 (1956 discovery), TEC-3 (salt water), TEC-5 (low, dry), TEC-6, TEC-7, TEC-9, TEC-101 (water, plugged 1972), TEC-10DES and TEC-11DES (2018).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Chronology 1956-2024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5</a:t>
            </a:r>
          </a:p>
        </p:txBody>
      </p:sp>
      <p:pic>
        <p:nvPicPr>
          <p:cNvPr id="4" name="Picture 3" descr="20_block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778240" cy="41696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5440" y="914400"/>
            <a:ext cx="2651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Discovery and PEMEX development 1956-1973; production recorded monthly by CNH from 1966; last PEMEX-era month January 2016.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Tonalli Energía (IFR / Grupo Idesa) took the block in 2016; Plan de Evaluación 2017; 3D reprocessing; TEC-2 workover and test 2018; TEC-10DES drilled April-May 2018; TEC-11DES horizontal November-December 2018 found 100 % water.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2019: PEMEX factoring stalled, TEC-2 shut in September, TEC-11 plugged; 2020: early-production sales contract with PEP (21 Jul) but the Programa de Transición was dismissed (7 Aug); 2022: Informe de Evaluación rejected (3 Feb), field shut in (4 Feb), Programa de Transición approved (18 Jul), Idesa exits and Jaguar buys 50 % (25 Aug).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2024: abandonment trust reserve USD 411 k; cash calls continue (section 10).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Regulatory status: what the incoming operator steps 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0"/>
                <a:gridCol w="2834640"/>
              </a:tblGrid>
              <a:tr h="277133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Contract CNH-R01-L03-A24/2016 (Round 1.3) to Tonalli Energía S.A.P.I. de C.V.; 25-year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CONTRATO_CNH-R01-L03-A24.2016 (1BRBFpBv); Fideicomiso sheet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May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Plan de Evaluación approved; ASEA implementation-plan approval Mar 2018 (ASEA_UGI_DGGEERC_0190_2018)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Plan de Evaluación 0517 (1P7EHEf7); ASEA oficio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 Jul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Informe de Evaluación and Programa de Transición filed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Tonalli letter TON-PEP-SOL/2022-1A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21 Jul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Contrato de Compraventa de Petróleo de Producción Temprana with PEMEX Exploración y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same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 Aug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CNH dismissed the Programa de Transición and the Informe; COVID acuerdos extended the Plan de Evaluación to 27 Nov 2020, 27 Aug 2021, then 24 Nov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same (oficios 260.0338, 260.0488, 260.0995/2021)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19 Nov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Informe de Evaluación and Programa de Transición refiled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same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3-8 Feb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Informe resolved unfavourably; Tonalli withdrew the Programa request and stopped production on 4 Feb; CNH accepted the withdrawal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same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18 Jul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Resolución CNH.E.56.001/2022 approves the Programa de Transición (oficio 220.0504/2022)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Tonalli letter TON-PEP-SOL/2022-2 (1BJf7OGI)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25 Aug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Petro Frontera buys Idesa's 50 % for 100 MXN and sells 50 % to Jaguar E&amp;P for USD 850 k; Jaguar to post the CNH guarantee and operate; Idesa loans forgiven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2022 Purchase and Sale Transactions memo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Apr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TEC-11DES temporary-abandonment notice (art. 54); reclassification to injector filed 18 Oct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Anexo 4 aviso (18kU9Zb7)</a:t>
                      </a:r>
                    </a:p>
                  </a:txBody>
                  <a:tcPr/>
                </a:tc>
              </a:tr>
              <a:tr h="27713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2024-25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Abandonment reserve USD 411,032 (four wells + line, separator, dam); trust balance MXN 6.94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Fideicomiso-Reserva de Abandono 2024-2025</a:t>
                      </a:r>
                    </a:p>
                  </a:txBody>
                  <a:tcPr/>
                </a:tc>
              </a:tr>
              <a:tr h="27714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Mar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Fiscal reform: contract terms preserved per secondary sources; regulator now CNE; substitution clause to be checked (G-49)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docs/gaps.md G-49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2. Well-by-well histories and wellbore schematics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Nine wells; casing from PEMEX estados mecánicos (2006 updates) and informes finales (1956), Halliburton post-operative reports (2018) and Tonalli estados mecánicos (2019-2022).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TEC-2 and TEC-3 casing from the PEMEX 1956 drilling reports and the 2017 CNH clause-3.3 well-integrity cédulas (G-54 closed).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Well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1097280"/>
                <a:gridCol w="4206240"/>
                <a:gridCol w="1097280"/>
                <a:gridCol w="1554480"/>
                <a:gridCol w="1371600"/>
              </a:tblGrid>
              <a:tr h="283464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Drilled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KB m / TD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Result and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Top El Abra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Production record (monthly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Oil kbbl / water kbbl / gas MMcf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1956 (discovery)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4.00 / 2,375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Producer 1956-2016; Tonalli workover and test May 2018 (8 m³/d oil, 90 % water, skin +196); shut in Sep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-2,302 (GLJ map)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1972-01 to 2019-08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323 / 273 / 337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6.00 / 2,381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Water on open-hole test 2,376.8-2,380.8; plugged 7 Mar 1956 (cement 2,310-2,380.5 and 571.7-625 m); delimits the NE flank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-2,370 (label uncertain)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Jun-Jul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4.00 / 2,562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Structurally low, El Abra at 2,551 mSS, not tested; plugged 28 Jul 1956; separates Tecolutla from Miguel Hidalgo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Sep-Oct 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5.67 / 2,339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Producer, initial 77 m³/d on 8 mm, 3.4 % water; recompleted 2314-2327 m; last production Dec 2006; 388 kbbl wellfile allocation before 1966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-2,294 / -2,296 (report)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1966-01 to 2006-12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507 / 149 / 273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5.00 / 2,340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Producer 2,310-2,313 m; last PEMEX static 1998; Tonalli water-injection string (2 3/8 in, packer 2,300 m) 2019; produced-water injector 2020-21 under ASEA authorisation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1968-06 to 2019-07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267 / 44 / 130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Apr-May 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5.07 / 2,340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Producer 2,328-2,333 m (91.6 m³/d initial); closed Jan 1999, produced again 2003-2012; monument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1973-05 to 2012-07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352 / 266 / 225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8.00 / 2,804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Water-invaded, structurally low, plugged 31 Mar 1972; fish at 926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TEC-10DES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 Apr-4 May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6.13 / 2,490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J-shape; cored, logged (Weatherford suite incl. CMI), tested Jul-Aug 2018 (31 m³/d oil, k 18 mD, skin +5); produced to Nov 2019 and 2020-22; shut in Feb 2022, restarted Nov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2018-07 to 2019-11 (+ commingled 2020-22)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87 / 121 / 52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TEC-11DES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 Nov-18 Dec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4.70 / 3,283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Horizontal, 720 m lateral at 2,305-2,331 mSS; 100 % water (260 bpd, Jul 2019); composite plug 2,400 m Aug 2019; injector reclassification filed; temporary abandonment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May-Aug 2019 water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 / 4 /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Wellbore schematics (depth to scale)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9</a:t>
            </a:r>
          </a:p>
        </p:txBody>
      </p:sp>
      <p:pic>
        <p:nvPicPr>
          <p:cNvPr id="4" name="Picture 3" descr="18_wellbore_sch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138160" cy="3662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914400"/>
            <a:ext cx="32918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PEMEX wells: 9 5/8 in surface casing at 500-600 m (807 m at TEC-101), 6 5/8 in production casing to ~2,300 m, 4 1/2 in liners across the El Abra at TEC-6 and TEC-7; TEC-9 6 5/8 in P-110 to TD.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TEC-10DES: 13 3/8 in at 30 m, 9 5/8 in H-40 at 470 m, 7 in L-80 26 lb/ft at 2,285 m cemented to surface, 4 1/2 in L-80 liner 2,133-2,489 m; perforations 2,349.5-2,353 m (active), 2,394-2,414 m (inactive), 2,433.5-2,442.5 m (tight: admitted only at 2,120 psi in the June 2018 injectivity test).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TEC-11DES: 7 in 26 lb/ft at 2,354 m cemented to surface; 4 1/2 in liner in the lateral; composite plug at 2,400 mMD; tubing-less.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TEC-7 carries a 2 3/8 in string with a packer at ~2,300 m for water injection (2019); TEC-2 has an active interval 2,307.4-2,311 m, squeezed intervals and two bridge plugs below.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TEC-2: 9 5/8 in J-55 at 607.9 m, 6 5/8 in N-80/J-55 20-24 lb/ft at 2,307.4 m, 4 1/2 in J-55 11.6 lb/ft liner 2,288.7-2,375 m (PEMEX 1956). TEC-3: 9 5/8 in J-55 at 501.35 m, 8 5/8 in open hole to 2,380.5 m, cement plugs (PEMEX 2006 estado mecánico).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Full table: data/processed/wells/casing_strings.csv (69 rows, each with its source).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Per-well production histories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10</a:t>
            </a:r>
          </a:p>
        </p:txBody>
      </p:sp>
      <p:pic>
        <p:nvPicPr>
          <p:cNvPr id="4" name="Picture 3" descr="19_well_his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4718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TEC-6 was the workhorse: 507 kbbl in the monthly record 1966-2006 plus 388 kbbl allocated in the PEMEX wellfile before 1966; three producing intervals stepping down the section.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TEC-7: 267 kbbl, almost all in 1968-1990 from 2,310-2,313 m; TEC-9: 353 kbbl 1973-2012 from one interval, 2,328-2,333 m, with a 2003-2012 second life.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TEC-2: 323 kbbl 1972-2016 with rising water from 2008; the 2018 workover test produced 8 m³/d oil at 90 % water and a skin of +196.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TEC-10: 88 kbbl Jul 2018-Nov 2019 in the monthly record (44 kbbl in the daily file from Sep 2018), first full month 181 bbl/d, 78 bbl/d at 12 months; 2020-22 sales are commingled field volumes: 39 kbbl through the PEMEX settlements.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GOR 400-800 scf/bbl through 1966-92 (cumulative 565), rising only where gas was field-allocated or at low tubing pressure on TEC-10 (docs/04 §5).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Gaps in the traces are months absent from the CNH record (66 runs); the PEMEX well files show most pre-1985 runs were shut-in or workover months (TEC-2 and TEC-7 shut in for salt water 1957-71); post-1985 runs are unexplained (G-34).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3. Pressure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21 surveys 1956-2018 restated at 2,300 mSS with a 10.5 kPa/m gradient; all 16 PEMEX scans OCR-verified.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Initial 24.65 MPa (May 1956); 24.14-24.16 MPa in three wells in 2018 after about 2 MMbbl: 2 % depletion, more than 99 % of voidage replaced by the aquifer.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Static and build-up pressures at 2,300 mSS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1737360"/>
                <a:gridCol w="1097280"/>
                <a:gridCol w="1188720"/>
                <a:gridCol w="5669280"/>
              </a:tblGrid>
              <a:tr h="241069"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Gauge depth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p at 2,300 mSS,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Flag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1956-05-24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shut-in only 2.8 h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1964-12-02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flowing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18.66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flowing, not static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1964-12-05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1964-12-08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1964-12-08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transcription corrected from scan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1971-08-28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1971-09-06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1971-09-08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1971-10-18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1973-06-04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flowing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flowing pressure before shut-in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1998-10-06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2018-03-27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static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gauge stopped at 2,250 mKB above the perforations; extrapolated by IFR</a:t>
                      </a:r>
                    </a:p>
                  </a:txBody>
                  <a:tcPr/>
                </a:tc>
              </a:tr>
              <a:tr h="241069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2018-05-30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build-up, extrapolated 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model-extrapolated; 13-day build-up still rising 3 kPa</a:t>
                      </a:r>
                    </a:p>
                  </a:txBody>
                  <a:tcPr/>
                </a:tc>
              </a:tr>
              <a:tr h="241071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2018-08-31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build-up, extrapolated 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model-extrapolated; 25-day build-up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Depletion and aquifer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05_pressure_de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132320" cy="5603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19" y="914400"/>
            <a:ext cx="4297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24.65 MPa on 24 May 1956 (TEC-2 after 2 h 45 min on a new well) to 24.14-24.16 MPa in 2018 (TEC-2 static gradient after two years shut in, TEC-2 and TEC-10 build-up p*): 0.5 MPa in 62 years.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1964 statics after 75-95 days shut-in agree with the initial; the 1971 TEC-6 series shows short shut-ins understating reservoir pressure by up to 1 MPa (23.2 MPa at 4 days, 24.4 MPa at 74 days).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Rock and fluid expansion for 0.5 MPa on 11 MMbbl OOIP would supply ~11 kbbl; the aquifer has replaced over 99 % of 2 MMbbl of voidage.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Both 2018 build-ups needed a constant-pressure boundary (700 m at TEC-2, 195 m at TEC-10) and TEC-10 a no-flow boundary at 125 m.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Gradient surveys 2018: reservoir temperature 97.5-99.3 °C at 2,120-2,250 m.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current shut-in (since Feb 2022) is a free multi-year build-up: a static gradient on TEC-10 before any new drilling is the cheapest measurement in the field.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4. Production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1,341 tidy rows from six sources (CNH monthly 1966-2016, CNH field level 1960-65, Tonalli tests, TEC-10 daily, trucking tickets, PEMEX statements); nothing interpolated.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Recorded 1.72 MMbbl to Dec 2022; with the PEMEX wellfile allocations 1.97-2.0 MMbbl.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Field production 1960-2022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15</a:t>
            </a:r>
          </a:p>
        </p:txBody>
      </p:sp>
      <p:pic>
        <p:nvPicPr>
          <p:cNvPr id="4" name="Picture 3" descr="04_produc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9144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PEMEX era 1966-2016: 1.45 MMbbl in the four-well monthly record (TEC-6 507, TEC-9 353, TEC-2 320, TEC-7 267 kbbl) plus 182 kbbl at field level 1960-65 and 482 kbbl of wellfile allocations not in any monthly file.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Tonalli era: TEC-10 44 kbbl daily-metered Sep 2018-Nov 2019; PEMEX statements 63 kbbl Sep 2018-Nov 2020; settlements 39.3 kbbl 2020-22 (16.1 kbbl 2020 net, 17.4 kbbl 2021 filed with CNH, 0.9 kbbl 2022).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Water: 1.07 MMbbl recorded; field water cut rose from &lt;5 % in the 1960s to 60-85 % in the Tonalli era (TEC-10 40 % rising to 85 %).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Gas: 965 MMcf recorded 1966-2016, vented at single-well batteries; solution GOR about 550-570 scf/bbl on 27 years of production.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Rates never exceeded ~500 bbl/d per well; the field made 100-300 bbl/d for most of its life and 20-70 bbl/d in 2020-22 on TEC-10 alone.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No per-well data after Nov 2019: sales are commingled (G-32); 2020 CNH filing net (16,132) vs gross (18,973) is a PEMEX accounting adjustment, not water (G-53).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Type curve and what a new well can be expected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16</a:t>
            </a:r>
          </a:p>
        </p:txBody>
      </p:sp>
      <p:pic>
        <p:nvPicPr>
          <p:cNvPr id="4" name="Picture 3" descr="06_type_curv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680960" cy="3614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91440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345-400 kbbl 'type curve' in every IFR model is the four PEMEX wells stacked by month on production, and it embeds recompletions (the average rises again at months 100-130 and 250-300).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TEC-10, the only single-completion well with daily data: 181 bbl/d first full month, 78 at 12 months, ~21 at 45 months; b 0.49; about 104 kbbl EUR.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GLJ YE2020 for TEC-12: 203 / 343 / 502 kbbl (1P/2P/3P); Petrel Robertson 100 bbl/d base, 200 upside.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Recommended range for a new vertical well in the produced interval: low 100 bbl/d and 65 kbbl; base 180 bbl/d, b 0.9, 218 kbbl; high 300 bbl/d, 366 kbbl.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Water-limited from the first year in every well; recompletion up-section was PEMEX's tool for a second life.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5. Fluid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Stock-tank oil, separator gas and produced water were measured in 2018-19 by SGS, Corelab and Intertek, and by PEMEX in 1956-1975.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No laboratory PVT study exists: every bubble point, Rs, Bo and live viscosity in circulation is a correlation or a PEMEX analogue (EO-41).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Oil: laboratory analyses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188720"/>
                <a:gridCol w="1188720"/>
                <a:gridCol w="822960"/>
                <a:gridCol w="1371600"/>
                <a:gridCol w="548640"/>
                <a:gridCol w="914400"/>
                <a:gridCol w="822960"/>
                <a:gridCol w="1737360"/>
              </a:tblGrid>
              <a:tr h="283464"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°API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S % m/m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Pour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BS&amp;W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Salt lb/Mbbl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TEC-2 whole crude, test separator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17 May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SGS Deer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13.7 cSt @40 °C; 3.9 @98.9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38 % (as received)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RVP 2.1 psi; acid no. 0.33; treated with demulsifier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 Zone C, well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27 Jul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SGS Deer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18.7 cSt @40; 9.4 @60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40-44 %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H2S 38 ppm liquid, mercaptan S 218 ppm; Si 4 ppm: clean-up sample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 shore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21 Nov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Intertek Coatzacoalcos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0.03 %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RVP 5.7 psi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 shore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11 Dec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Intertek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RVP 7.3 psi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 tank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15 Jan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Intertek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RVP 7.0 psi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TEC-10DES 'muestreo de fondo' zones A+B / B /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Jul-Aug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SGS Coatzacoalcos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SG 0.958 / 0.922 / 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2.56 / 2.33 / 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776 / 396 / 231 SUS @100 °F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do not match the tank oil; zone meaning not stated (gap)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TEC-11 Tantoyuca 2,361-2,364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22 Aug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Química Apollo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32 %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52,058 mg/l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asphaltenes 9.8 %, resins 21.5 %: a different, heavy oil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PEMEX Engler forms TEC-2/6/7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1956-1975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PEMEX Poza 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0.857-0.881 g/cm³ @20/4 (~29-33 °API)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76-115 SSU @~30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eight of nine forms readable by OCR; check scans before quoting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CNH monthly filings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2020-2022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Tonalli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28.4-30.9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PEMEX settlements: 25.7-30.9 °API, 1.5-1.9 %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Gas and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828800"/>
                <a:gridCol w="1828800"/>
                <a:gridCol w="2194560"/>
                <a:gridCol w="2194560"/>
              </a:tblGrid>
              <a:tr h="295220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TEC-6 casing gas, 28 Aug 1970 (PEMEX)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TEC-2 separator gas, 17 May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TEC-10 separator gas, 27 Jul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Water, TEC-2 separator 17 May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Water, TEC-10 separator 27 Jul 2018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C1 / C2 / C3 mol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79.8 / 7.9 / 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70.4 / 6.7 / 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70.3 / 7.7 / 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TDS mg/l: 50,145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TDS mg/l: 36,788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CO2 / H2S / N2 mol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4.78 / 0.66 /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10.57 / 1.75 / 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11.14 / 0.99 / 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Na 16,627; Ca 2,000; Mg 510; Cl 30,250; SO4 560; HCO3 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Na 13,352; Ca 480; Mg 170; Cl 20,850; SO4 670; HCO3 1,135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Gas gravity (air =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SG 1.0326; pH 6.68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SG 1.0239; pH 6.98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Gross heating value BTU/scf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1,133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Rw 0.128 ohm·m @75 °F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Rw 0.196 ohm·m @75 °F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GPM C3+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Type: connate (lab); Na-Cl, Ca second 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Type: connate; Na-Cl, HCO3 above SO4 and Ca</a:t>
                      </a:r>
                    </a:p>
                  </a:txBody>
                  <a:tcPr/>
                </a:tc>
              </a:tr>
              <a:tr h="2952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H2S 420 grains/100 scf; casing pressure 76 kg/cm²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GPA 2286; 6.3 kg/cm²(a), 38.8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GPA 2286; 8.8 kg/cm²(a), 32.6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well making ~90 % water; Ryznar corrosive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TEC-10 swabbed and acidised in Jul 2018; scaling tendency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PVT: what is measured, what is correlated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377440"/>
                <a:gridCol w="2377440"/>
                <a:gridCol w="3108960"/>
              </a:tblGrid>
              <a:tr h="286512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PEMEX Ronda-1 table (EO-41 analogue)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IFR PVT calculator (Vasquez-Beggs)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IHS 2018 well-test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Measured at Tecolutla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Oil gravity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 °API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28.4 °API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28.0-28.2 °API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26.5-30.8 °API stock tank; 28.4 field density on the TEC-2 test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Solution GOR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336 scf/bbl (59.9 m³/m³)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552 scf/bbl assumed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541-570 scf/bbl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never measured; produced GOR 565 cum. 1966-92, 685 (1964), 740-770 on TEC-10 (2018)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Bubble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1,877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2,849 psia hard-coded (correlation gave more than initial pressure)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2,901 / 3,452 psia assumed in the IPRs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never measured; initial pressure 3,575 psia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1.30 at 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1.28-1.30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never measured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Live oil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11.2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0.62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0.72-0.74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dead oil 13.7-18.7 cSt at 40 °C only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Compressibility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 1.6e-5 /psi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 1.2e-5 /psi; ct 1.4e-5 (TEC-2), 4.2e-5 (TEC-10, anomalous)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never measured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Reservoir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65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95 °C entered (converted wrongly to 228.6 °F)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98.6-101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97.5-99.3 °C, 2018 gradient surveys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Reservoir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252 kg/cm² 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3,684 psia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24.19-24.30 MPa at 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24.65 MPa (1956) to 24.14 MPa (2018) at 2,300 mSS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6. Rock analysis and the TEC-10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One core, 1.3 m recovered of 10 m attempted at 2,352-2,362 mMD (inside the perforated interval), three horizontal plugs, six thin sections; no electrical properties, capillary pressure or relative permeability.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Logs: 1956-1973 PEMEX suites on TEC-2/6/9, Weatherford 2018 suite on TEC-10 (GR, neutron-density, PE, induction, dipole sonic, Stoneley, CMI image).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TEC-10 core 1: routine analysis, saturations and petrography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52144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1371600"/>
                <a:gridCol w="1463040"/>
                <a:gridCol w="822960"/>
                <a:gridCol w="1371600"/>
                <a:gridCol w="2651760"/>
                <a:gridCol w="1371600"/>
                <a:gridCol w="822960"/>
              </a:tblGrid>
              <a:tr h="295220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Plug /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Depth mMD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He porosity (500 / 3,400 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k Klinkenberg mD (500 / 3,400 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Grain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Dean-Stark oil / water %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Thin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Visual 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Hydrocarbons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grainstone, miliolids/textulariids, rare rudists, strongly recrystallised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intercrystalline, moldic; ~3-5 %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2.3 / 1.7 %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0.020 / 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58.8 / 23.9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grainstone-packstone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wackestone, planktonic forams (Globotruncana), pyrite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6.7 / 6.3 %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0.956 / 0.356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19.7 / 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grainstone, intraclasts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intercrystalline micro; ~3 %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7.6 / 7.2 %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0.174 / 0.084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13.8 / 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grainstone, calcite-sealed fractures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952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N1PI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2,353.24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grainstone, sealed fractures, micrite-filled cavity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What the rock data say about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23</a:t>
            </a:r>
          </a:p>
        </p:txBody>
      </p:sp>
      <p:pic>
        <p:nvPicPr>
          <p:cNvPr id="4" name="Picture 3" descr="14_cmi_fra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852160" cy="3901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Plug permeability at stress 0.004-0.36 mD against 18 mD from the TEC-10 well test on 13.2 m and 50 mD at TEC-2 on 8 m: flow is through fractures and vugs the plugs do not sample; matrix porosity 6-8 % in the grainstone, near zero in the argillaceous wackestone.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CMI image (right): 0-7 fractures/m; no open fracture in the TEC-12 window (2,294-2,311 mSS) or in the perforated 10 m; open fractures begin below 2,320 mSS in the produced, water-bearing interval (G-09 closed).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Log zoning at TEC-10 (Archie, Rw 0.054, uncalibrated): window φ 8.9 %, Rt 5.2 ohm·m, Sw ~1.0, 16.5 m above 6 % porosity but 0 m of pay; perforated interval φ 5.4 %, Rt 30, Sw 0.79; below 2,340 mSS φ 2.5-3 %, Rt 40-54.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Mud log 2,328-2,346 mMD: 70 % compact mudstone-wackestone, 30 % soft calcareous shale, 1-3 gas units, no show; 2,346-2,360 m: 100 % mudstone-wackestone, calcimetry 86-90 %.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Mechanical (dynamic, dipole sonic): E 4-5 Mpsi and brittleness 43 % above 2,330 m against 9-10 Mpsi and 73-76 % below 2,380 m; closure-stress gradient 0.66-0.84 psi/ft; no UCS or static calibration.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Well tests (IHS 2018): TEC-2 skin +196 (damaged 1956 completion), TEC-10 skin +4.9; both models need a constant-pressure boundary.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Logs on one datum and the two readings of the upper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24</a:t>
            </a:r>
          </a:p>
        </p:txBody>
      </p:sp>
      <p:pic>
        <p:nvPicPr>
          <p:cNvPr id="4" name="Picture 3" descr="09_log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4646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GR rises with porosity in every well (Spearman +0.28 to +0.49): clean GR is the tight miliolid facies, so a low-GR cut-off would discard the pay.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Produced intervals sit at 2,303-2,332 mSS in every well; nothing has ever been produced from the 2,294-2,311 mSS window except the top 4 m of TEC-2's active interval.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Sw sensitivity (72 cases anchored to the aquifer and the producing interval): the window is water at TEC-10 on the core-supported density porosity (Sw ≥ 1.1); at TEC-9, 118 m from the TEC-12 location, the 1973 sonic puts the window at parity with the 353-kbbl producer unless 20 %+ of its porosity is shale effect.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Neutron-density crossover flips sign at 2,311 mSS; PE 3.8-3.9 in the window vs 5.1 in the perforations: argillaceous carbonate above, clean limestone below.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Consequence for any new well: log and test the upper zone before completing; plan the base case on 2,311-2,332 mSS (G-47).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7. Geology with regional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Faja de Oro Terrestre: the reef atoll rimming the Tuxpan platform, Tampico-Misantla basin; Tecolutla is a small high on the SE fringing reef between Miguel Hidalgo (NW) and Ignacio Allende (SE).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What the sources say, what they leave out (seal, source rock, stage age, spill point), and where the well tops disagree.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Regional setting: the Golden Lane atoll and the El Abra facies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26</a:t>
            </a:r>
          </a:p>
        </p:txBody>
      </p:sp>
      <p:pic>
        <p:nvPicPr>
          <p:cNvPr id="4" name="Picture 3" descr="resumen_campo_03_Figura_iii_1_Secci_n_s_smica_regional_en_tiempo_en_direcci_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931920" cy="3017737"/>
          </a:xfrm>
          <a:prstGeom prst="rect">
            <a:avLst/>
          </a:prstGeom>
        </p:spPr>
      </p:pic>
      <p:pic>
        <p:nvPicPr>
          <p:cNvPr id="5" name="Picture 4" descr="resumen_campo_05_Figura_iv_1_Secci_n_del_S_smica_del_Campo_Tecolutla_con_el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914400"/>
            <a:ext cx="3566160" cy="33689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914400"/>
            <a:ext cx="3749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/>
            </a:pPr>
            <a:r>
              <a:t>Golden Lane (Faja de Oro): an ellipsoidal carbonate atoll ~150 × 70 km, 1,200 m thick, grown on a basement high in the Early Cretaceous; reef facies on the outer edge, lagoonal patch reefs inside; end-Albian sea-level fall exposed the upper reef, cut channels through the rim and improved reservoir quality (2017 Plan de Evaluación, p12-13).</a:t>
            </a:r>
          </a:p>
          <a:p>
            <a:pPr>
              <a:spcAft>
                <a:spcPts val="400"/>
              </a:spcAft>
              <a:defRPr sz="950"/>
            </a:pPr>
            <a:r>
              <a:t>Tecolutla sits on the SE fringing reef: rudist patch-reef packstones and grainstones; PEMEX facies model pre-reef grainstone-packstone (reservoir) / reef wackestone-grainstone / post-reef mudstone-wackestone (PEMEX Resumen §iv).</a:t>
            </a:r>
          </a:p>
          <a:p>
            <a:pPr>
              <a:spcAft>
                <a:spcPts val="400"/>
              </a:spcAft>
              <a:defRPr sz="950"/>
            </a:pPr>
            <a:r>
              <a:t>Left: PEMEX 2011 PSTM time section SW-NE through TEC-101, TEC-2, TEC-3: Tamabra and San Andrés horizons dipping under the platform edge, the El Abra reef block between two flank faults, Tertiary above.</a:t>
            </a:r>
          </a:p>
          <a:p>
            <a:pPr>
              <a:spcAft>
                <a:spcPts val="400"/>
              </a:spcAft>
              <a:defRPr sz="950"/>
            </a:pPr>
            <a:r>
              <a:t>Right: PEMEX section with the facies cartoon (cuenca, talud, barrera arrecifal, post-arrecife, plataforma interna); the wells sit in the post-reef/lagoon zone at the crest.</a:t>
            </a:r>
          </a:p>
          <a:p>
            <a:pPr>
              <a:spcAft>
                <a:spcPts val="400"/>
              </a:spcAft>
              <a:defRPr sz="950"/>
            </a:pPr>
            <a:r>
              <a:t>Age is given only as 'Cretácico Medio' in every project source; Albian-Cenomanian is the literature assignment, not project data. No source names the seal or the source rock.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0B0B"/>
                </a:solidFill>
              </a:defRPr>
            </a:pPr>
            <a:r>
              <a:t>Stratigraphic column and formation tops (mMD below KB; mSS where the source gives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  <a:gridCol w="1280160"/>
                <a:gridCol w="1828800"/>
                <a:gridCol w="2926080"/>
              </a:tblGrid>
              <a:tr h="280970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TEC-5 (1956, flank)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TEC-6 (1956)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TEC-9 (1973)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TEC-12 prognosis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Character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Tuxpan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40 (-32 mSS)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sands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Escolín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727 (721 mSS)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734.5 (-726)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shale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Coatzintla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1,121 (1,115)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1,136.7 (-1,117)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shale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Palma Real Superior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1,748 (1,742)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1,770.2 (-1,743)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shale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Palma Real Inferior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2,010 (2,004)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2,030.2 (-2,003)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shale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Tantoyuca (Upper Eocene)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2,229 (2,223)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2,237.2 (-2,210)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shale, bentonite, sand stringers; rests directly on El Abra at the crest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Chicontepec Inferior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absent (eroded)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absent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present only on the flank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San Felipe (Upper Cretaceous)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absent (eroded)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absent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58 m at TEC-5, 24 m at TEC-3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El Abra (Middle Cretaceous)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2,555 (2,551 mSS)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2,302 (2,296 mSS; logs 2,294)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2,310 (2,296 mSS)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2,323.2 (-2,296)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recrystallised miliolid grainstone to mudstone-wackestone</a:t>
                      </a:r>
                    </a:p>
                  </a:txBody>
                  <a:tcPr/>
                </a:tc>
              </a:tr>
              <a:tr h="28097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2,562.1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2,338.9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2,360 (-2,333)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Structure: PEMEX 2014 depth map and Tonalli's 2020 Petrel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28</a:t>
            </a:r>
          </a:p>
        </p:txBody>
      </p:sp>
      <p:pic>
        <p:nvPicPr>
          <p:cNvPr id="4" name="Picture 3" descr="resumen_campo_04_Figura_iii_2_Mapa_estructural_en_profundidad_del_yacimien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291840" cy="2970564"/>
          </a:xfrm>
          <a:prstGeom prst="rect">
            <a:avLst/>
          </a:prstGeom>
        </p:spPr>
      </p:pic>
      <p:pic>
        <p:nvPicPr>
          <p:cNvPr id="5" name="Picture 4" descr="elabra_depth_tec12_s01_top_el_abra_depth_map_TVDSS_5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914400"/>
            <a:ext cx="4206240" cy="2793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914400"/>
            <a:ext cx="3749039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/>
            </a:pPr>
            <a:r>
              <a:t>PEMEX (left, 20 m contours): NW-SE elongated anticline, crest -2,300 to -2,320 m around TEC-2/101/6/9/7, normal faults on both flanks parallel to the axis; TEC-3 on the NE flank at -2,400; TEC-5 far NW at -2,551.</a:t>
            </a:r>
          </a:p>
          <a:p>
            <a:pPr>
              <a:spcAft>
                <a:spcPts val="400"/>
              </a:spcAft>
              <a:defRPr sz="950"/>
            </a:pPr>
            <a:r>
              <a:t>Tonalli 2020 (right, 5 m contours from the reprocessed 3D): two 2,290 m culminations (at TEC-2 and at TEC-6/9) with a 2,300 m saddle near TEC-7/101: total relief across the drilled area of order 10-25 m; two closed lows and a second high to the NW.</a:t>
            </a:r>
          </a:p>
          <a:p>
            <a:pPr>
              <a:spcAft>
                <a:spcPts val="400"/>
              </a:spcAft>
              <a:defRPr sz="950"/>
            </a:pPr>
            <a:r>
              <a:t>Well tops (2,294-2,310 mSS across TEC-6, 9, 2, 7, 10) support only ~15 m of relief; the 'structurally higher' argument for a new well rests on metres, not on a separate closure.</a:t>
            </a:r>
          </a:p>
          <a:p>
            <a:pPr>
              <a:spcAft>
                <a:spcPts val="400"/>
              </a:spcAft>
              <a:defRPr sz="950"/>
            </a:pPr>
            <a:r>
              <a:t>Trap: 'four-way closure by deposition and erosion' (2020 programme, Petrel Robertson: no faults between TEC-6 and TEC-9) versus PEMEX's fault-bounded anticline; the flank faults lie outside the drilled area.</a:t>
            </a:r>
          </a:p>
          <a:p>
            <a:pPr>
              <a:spcAft>
                <a:spcPts val="400"/>
              </a:spcAft>
              <a:defRPr sz="950"/>
            </a:pPr>
            <a:r>
              <a:t>Contact: three numbers in circulation and no stated spill point: 'water at 2,350 m' (2017 plan), wet TEC-2 perforations at 2,331-2,345 mSS, and Petrel Robertson's deep contact -2,374 mSS used for OOIP; TEC-3 (NE) and TEC-5 (NW) found water.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Reservoir: facies, porosity and the log evidence across the wells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29</a:t>
            </a:r>
          </a:p>
        </p:txBody>
      </p:sp>
      <p:pic>
        <p:nvPicPr>
          <p:cNvPr id="4" name="Picture 3" descr="xsections_navarrete_s02_Imagen_3_b65421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023360" cy="2770288"/>
          </a:xfrm>
          <a:prstGeom prst="rect">
            <a:avLst/>
          </a:prstGeom>
        </p:spPr>
      </p:pic>
      <p:pic>
        <p:nvPicPr>
          <p:cNvPr id="5" name="Picture 4" descr="tantoyuca_tec269_s03_Imagen_6_26c443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14400"/>
            <a:ext cx="3566160" cy="1488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91440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/>
            </a:pPr>
            <a:r>
              <a:t>PEMEX petrophysics: porosity 5-12 %, Sw 24-38 %, Archie with Rw 0.075 at 65 °C; 2017 plan: permeability 6-10 mD (up to 200 mD from the 1956 TEC-2 test), gross 70 m, net 25 m; IFR 2020: gross 42.3 m, net 16.9 m, φ 7 %, Sw 30 %.</a:t>
            </a:r>
          </a:p>
          <a:p>
            <a:pPr>
              <a:spcAft>
                <a:spcPts val="400"/>
              </a:spcAft>
              <a:defRPr sz="950"/>
            </a:pPr>
            <a:r>
              <a:t>Porosity types claimed: intergranular, fracture, karst (vugs and dissolution caverns). Measured: 2-8 % matrix porosity and 0.004-1 mD in the one core; open fractures on the image log only below 2,320 mSS.</a:t>
            </a:r>
          </a:p>
          <a:p>
            <a:pPr>
              <a:spcAft>
                <a:spcPts val="400"/>
              </a:spcAft>
              <a:defRPr sz="950"/>
            </a:pPr>
            <a:r>
              <a:t>Cuttings: TEC-6 and TEC-9 upper El Abra is cream miliolid grainstone with compact mudstone; TEC-2's upper 55 m is dark shale with dense limestone and flint, the top pick disputed; TEC-10 window 70 % mudstone-wackestone and 30 % soft calcareous shale; TEC-11's 720 m lateral is 60 % mudstone-wackestone, 33 % mixed wackestone-grainstone, no pure grainstone.</a:t>
            </a:r>
          </a:p>
          <a:p>
            <a:pPr>
              <a:spcAft>
                <a:spcPts val="400"/>
              </a:spcAft>
              <a:defRPr sz="950"/>
            </a:pPr>
            <a:r>
              <a:t>Left: Navarrete log cross-section in mSS through the producers; right: the Tantoyuca/El Abra contact panel (ILD jumps from ~2 to &gt;50 ohm·m at the contact in TEC-9).</a:t>
            </a:r>
          </a:p>
          <a:p>
            <a:pPr>
              <a:spcAft>
                <a:spcPts val="400"/>
              </a:spcAft>
              <a:defRPr sz="950"/>
            </a:pPr>
            <a:r>
              <a:t>The reservoir the wells actually produced from is a 20-30 m interval at 2,303-2,332 mSS; the 'never perforated' upper 15 m is the appraisal target and the main uncertainty (section 6).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Analogues on the El Abra trend (CNH data to 2015)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30</a:t>
            </a:r>
          </a:p>
        </p:txBody>
      </p:sp>
      <p:pic>
        <p:nvPicPr>
          <p:cNvPr id="4" name="Picture 3" descr="07_volu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949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914400"/>
            <a:ext cx="4480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45 El Abra fields in the IFR analogue workbook (CNH 2015 data): reef-rim fields 35; current recovery factor median 30 %, 3P EUR recovery median 31 % (P90-P10 12-40 %, max 53 %).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Tecolutla holds 2.5 MMbbl/km² against a reef-rim median of 8.3 MMbbl/km²: a thin accumulation for the trend.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Recovery to date 25 % on the CNH OOIP (7.8 MMbbl) or 20 % on the Monte Carlo P50 (10.0 MMbbl); the trend says 30 % is ordinary, which leaves 0.3-1.3 MMbbl depending on the OOIP.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Nearest rim analogues in the table: Álamo-San Isidro (211 MMbbl OOIP, RF 34.5 %, 26.5 °API), Acuatempa (102 MMbbl, 29.7 %), Alazán (66 MMbbl, 29.7 %); interior fields recover 10-37 %.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workbook has no porosity, thickness or depth columns: the analogue argument is a recovery-factor argument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8. Geophysics: the 3D survey and its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PEMEX 2011 Furbero-Presidente Alemán-Remolino 3D (PSTM), ~150 km² delivered at signing; reprocessed 2017-18 (Earth Signal PSTM, DMI Kirchhoff PSDM), tied at Miguel Hidalgo MH-412.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What was interpreted, what it changed (TEC-10 came in low; TEC-13 downgraded) and what is not in the package (volumes, velocities, grids).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Seismic data and the 2018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32</a:t>
            </a:r>
          </a:p>
        </p:txBody>
      </p:sp>
      <p:pic>
        <p:nvPicPr>
          <p:cNvPr id="4" name="Picture 3" descr="tec12_seismic_s02_Picture_6_e9cc2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480560" cy="3254301"/>
          </a:xfrm>
          <a:prstGeom prst="rect">
            <a:avLst/>
          </a:prstGeom>
        </p:spPr>
      </p:pic>
      <p:pic>
        <p:nvPicPr>
          <p:cNvPr id="5" name="Picture 4" descr="tec12_seismic_s01_Picture_2_aad0cd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914400"/>
            <a:ext cx="3108960" cy="3003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91440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/>
            </a:pPr>
            <a:r>
              <a:t>Data: 2011 PEMEX regional 3D, 'not designed to image the shallow El Abra' (Petrel Robertson); quality fair to good in and around the El Abra, very poor NE of Tecolutla and above ~1 s.</a:t>
            </a:r>
          </a:p>
          <a:p>
            <a:pPr>
              <a:spcAft>
                <a:spcPts val="400"/>
              </a:spcAft>
              <a:defRPr sz="950"/>
            </a:pPr>
            <a:r>
              <a:t>Reprocessing 2017-18: PSTM with gathers, angle stacks and a velocity volume (Earth Signal); Kirchhoff PSDM (DMI); Petrel project with the TEC-10 well tie; Top El Abra TWT and depth surfaces exported.</a:t>
            </a:r>
          </a:p>
          <a:p>
            <a:pPr>
              <a:spcAft>
                <a:spcPts val="400"/>
              </a:spcAft>
              <a:defRPr sz="950"/>
            </a:pPr>
            <a:r>
              <a:t>Tie: MH-412 at Miguel Hidalgo, the nearest well with dipole sonic and density: Tantoyuca = peak, Top El Abra = trough-to-peak zero crossing on a very high impedance contrast; picked every 10th line, autotracked, depth-converted with the average velocity, bulk-shifted and flexed to well tops.</a:t>
            </a:r>
          </a:p>
          <a:p>
            <a:pPr>
              <a:spcAft>
                <a:spcPts val="400"/>
              </a:spcAft>
              <a:defRPr sz="950"/>
            </a:pPr>
            <a:r>
              <a:t>Left: traverse TEC-10, 9, 7, 2 with the top-El-Abra pick on a strong continuous reflector, gently domed, no fault breaks; right: 3D view TEC-10 to TEC-9 over the depth surface (the 1800/1850 labels are not mSS: a different surface or TWT, do not quote depths from it).</a:t>
            </a:r>
          </a:p>
          <a:p>
            <a:pPr>
              <a:spcAft>
                <a:spcPts val="400"/>
              </a:spcAft>
              <a:defRPr sz="950"/>
            </a:pPr>
            <a:r>
              <a:t>Findings used by the 2020 programme: no faults or unconformities between TEC-6 and TEC-9; no karst or fault signature at the TEC-12 location; an undrilled high NW of TEC-9; TEC-13 structurally lower on the revised map.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Geophysics: limits and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33</a:t>
            </a:r>
          </a:p>
        </p:txBody>
      </p:sp>
      <p:pic>
        <p:nvPicPr>
          <p:cNvPr id="4" name="Picture 3" descr="tec12_seismic_s03_Picture_4_c8014f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840480" cy="5366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0" y="91440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Depth accuracy: TEC-10 came in lower than prognosis (the number is not in any source); 'tuning of the 3D frequencies is still an issue'; Petrel Robertson's mitigation was to drill TEC-12 as close to TEC-9 as possible (77 m bottom-hole to bottom-hole on the header coordinates).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2020 TEC-12 prognosis is the TEC-6 column, not a seismic depth: the seismic contributes the map, not the prognosis.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Not in the package: the seismic volumes, the Petrel project, the TWT and depth grids, the velocity cube, the reprocessing reports, survey geometry (bin, fold, bandwidth), any checkshot or synthetic at a Tecolutla well, any attribute or AVO product, Petrel Robertson's Figure 2, the programme's random lines.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sink-hole slide (TEC-10 'encountered a small sinkhole') is an assertion with a satellite photo and a textbook diagram; the masterlog, lithology log, CMI and core report record no losses, cavities or sinkhole.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For the incoming operator: obtain the Petrel project and SEG-Y from Tonalli/Jaguar; a checkshot or VSP in the next well and a tie at Tecolutla itself would convert the map from a Miguel Hidalgo-calibrated surface to a local 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11. Crude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Sole buyer PEMEX Exploración y Producción under the early-production sales contract of 21 Jul 2020; trucked to the Ezequiel Ordóñez battery; priced weekly off the Istmo USGC reference.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37 monthly settlements 2020-22 give the realised price: 0.81 × WTI volume-weighted (task 15).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How the crude is sold and priced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35</a:t>
            </a:r>
          </a:p>
        </p:txBody>
      </p:sp>
      <p:pic>
        <p:nvPicPr>
          <p:cNvPr id="4" name="Picture 3" descr="17_realised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47881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914400"/>
            <a:ext cx="48463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Route: single-well battery at the TEC-10/TEC-2 pad (separator, tanks) to PEMEX's Ezequiel Ordóñez facility by rented 30 m³ vacuum-pressure trucks (Transportes TDH, 2020); no pipeline; a 2 in sour-service flowline TEC-10 to the TEC-2 pad was specified in 2020 (TONALLI-INFRA-002).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Contract: Contrato de Compraventa de Petróleo de Producción Temprana PEP-Tonalli, 21 Jul 2020; measurement agreement (Acuerdo de medición Tonalli-PEMEX, 2018); monthly POA/POT/POM volume nominations with tolerance and a 5 % penalty on shortfalls (PEMEX weekly price sheet template).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Price: precio de compra = reference price × C (constante de rendimiento, 0.896-0.916 for 26-31 °API and 1.5-1.9 % S) minus tarifa PEP (0.59 falling to 0.51 USD/bbl from Mar 2021) minus tarifa logística (2.20) minus TRI (0) minus 3 % margen comercial; reference = (0.4 WTS + 0.4 LLS + 0.2 Brent + 6.50) × 0.9965 weekly.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Result: reference/WTI median 0.97; realised/WTI 0.81 volume-weighted (2020 0.81, 2021 0.81, 2022 0.79; P10-P90 0.77-0.84); fixed deductions 3.8-5.3 USD/bbl; ajuste comercial USD 8.3 k in total.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Volumes and revenue: 39,327 bbl and USD 1.80 MM in 2020-22 (27 months with deliveries); quality 25.7-30.9 °API, BS&amp;W 0.0-0.4 % on Tonalli tickets.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The 2022 models' 0.801 was the measured factor; the 2023 model's 0.90 and the 2020 model's 0.95 overstate revenue by 11 and 17 %.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Crude marketing: collection risk and what to negotiate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2019: PEMEX issued the COPADE but did not load the July invoice (USD 263 k incl. VAT) into the NAFIN factoring portal; revenue assumed 60 days after COPADE; the directors' memo of Sep 2019 modelled scenarios where PEMEX did not pay to year-end and where TEC-10 was shut in from October (Tonalli 2019 Budget and Forecasts Analysis).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VAT: about USD 1.2 MM recoverable at Aug 2019; refunds of 95 k (2017) and 555 k (2018) applied for through Yaxkin Consulting; VAT on sales can only be netted in months with revenue.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The sales contract's clause 4 required the CNH transition-programme dictamen, delivered only in July 2022; while shut in (Feb 2022 onward) the POA/POT/POM nominations could not be met.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Alternatives never exercised in the files read: sale to a private buyer or refinery, gas monetisation (gas has always been vented or flared; 1,130-1,155 BTU/scf, 11 % CO2, 1-1.75 % H2S).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For the incoming operator: the formula is transparent and the settlements reconcile to the trucking tickets within 1-4 %; the commercial issues are payment timing, the quality constant (sulphur), the fixed 2.7-3.3 USD/bbl of tariffs and the 3 % margin, and the nomination penalties on an intermittent producer.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10. Accounting summary since Tonalli took over (2016-2024)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Cash basis, from the IFR budget-vs-actual workbook (2016-2019), the 2022 cash reconciliation, the 2024 cash-call summary and the H1-2024 cash-flow statement; no P&amp;L or balance sheet in the files read.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Partner money in about USD 16.7 MM (2020-21 not in the sheets); gross oil revenue USD 4.45 MM 2018-22; well capital ~USD 7.9 MM incurred 2018-19.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Capital, revenue, costs and funding by year (USD, cash basis)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52144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1554480"/>
                <a:gridCol w="1188720"/>
                <a:gridCol w="1371600"/>
                <a:gridCol w="1005840"/>
                <a:gridCol w="1463040"/>
                <a:gridCol w="1097280"/>
                <a:gridCol w="1371600"/>
              </a:tblGrid>
              <a:tr h="280970"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2016-17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 b="1"/>
                      </a:pPr>
                      <a:r>
                        <a:t>2024 (to Sep)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Partner contributions / loans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6,998,500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 (forecast 1.1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419,118 (Jaguar 331 k, Petro Frontera 88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1,731,177 (Jaguar 1.64 MM, PF 88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2,070,613 Jaguar loans + 121 k interest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Oil sales,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15,415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32,747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19,041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17,546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Jan invoice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Gross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920,662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1,731,700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681,874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939,419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178,032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Royalties (share of revenue)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379,450 (41 %)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706,221 (41 %)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232,481 arrears + 150,390 penalties (Apr)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Operating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288,134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839,052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460,769; Sep-20 run-rate 28 k/month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MXN ledger only (trucking, admin, HEPR ~160 k MXN/month)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1,351,098 incl. CNH settlement 442,894 and SEMARNAT fine 606,093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G&amp;A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1,373,983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1,309,749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673,984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382,100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 (39 MB file unread)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MXN ledger: payroll, IMSS, taxes; severance MXN 659,860 Dec-22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294,959 Jaguar admin fee + audit, legal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Regulatory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≥ 657,015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671,017 (incl. 228,220 bid rounds 3.2/3.3)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112,605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20-65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CNH tax ~MXN 15 k/month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~770 k fines and fees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4,135,710 (TEC-10 2.44 MM, TEC-2 WO 0.61 MM, TEC-11 0.82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2,335,691 (TEC-11 1.72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2,054,331, mostly TEC-11 payables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45,206</a:t>
                      </a:r>
                    </a:p>
                  </a:txBody>
                  <a:tcPr/>
                </a:tc>
              </a:tr>
              <a:tr h="280970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Net VAT 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(661,822)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(56,198) after 246,854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+489,135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no refunds</a:t>
                      </a:r>
                    </a:p>
                  </a:txBody>
                  <a:tcPr/>
                </a:tc>
              </a:tr>
              <a:tr h="280972"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Cash at year-end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856,195 (1 Jan 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326,935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422,063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forecast 39,229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≈ 79 k (MXN 1.62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≈ 6.3 k (MXN 129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8,752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/>
                      </a:pPr>
                      <a:r>
                        <a:t>17,565 (30 Jun)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Wells: AFE against actual, and what was left unpaid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39</a:t>
            </a:r>
          </a:p>
        </p:txBody>
      </p:sp>
      <p:pic>
        <p:nvPicPr>
          <p:cNvPr id="4" name="Picture 3" descr="08_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2591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91440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TEC-10 (2018): AFE USD 2.92 MM; USD 2.04 MM booked to 15 Jun 2018; USD 2.58 MM cash paid 2018-19 for drill and complete.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TEC-11 (2018-19): drilling AFE USD 2.25 MM, tracker USD 3.03 MM at 26 Dec 2018, actual USD 3.11 MM (+USD 251 k 'QMAX over budget'); completion 0.96 MM vs 0.83 MM; Tantoyuca test 0.21 MM; all-in USD 4.40 MM vs USD 3.93 MM budget (+12 %) for a well that made water.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TEC-2 workovers USD 0.76 MM (2018-19); TEC-7 water-injection conversion USD 0.10 MM; seismic reprocessing USD 61 k (2018) against USD 78 k planned; landowner fees USD 73 k.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Cash paid on wells by end-2019 USD 6.46 MM against ~USD 7.9 MM incurred: ~USD 1.9 MM of TEC-11 invoices carried into 2020 as 'payment of accrued capital costs' (directors' memo: payables USD 2.3 MM at 30 Jun 2019); 2019 legal invoices were still being paid in June 2024.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TEC-12: a budget row from 2019 onward, always zero; no spend through September 2024. AFE USD 1.57 MM at Nov-2020 pricing (docs/08).</a:t>
            </a:r>
          </a:p>
          <a:p>
            <a:pPr>
              <a:spcAft>
                <a:spcPts val="500"/>
              </a:spcAft>
              <a:defRPr sz="1050">
                <a:solidFill>
                  <a:srgbClr val="0B0B0B"/>
                </a:solidFill>
              </a:defRPr>
            </a:pPr>
            <a:r>
              <a:t>2016-17: USD 1.37 MM G&amp;A and at least USD 0.66 MM regulatory before any well was touched (consultants, data rooms, Round 3.2/3.3 bids, insurance, legal).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Cash position and the funding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40</a:t>
            </a:r>
          </a:p>
        </p:txBody>
      </p:sp>
      <p:pic>
        <p:nvPicPr>
          <p:cNvPr id="4" name="Picture 3" descr="21_funding_and_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3275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91440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2018: USD 7.0 MM contributed, USD 7.3 MM net outflow; cash fell from 4.1 MM (Feb) to 0.33 MM (Dec) while TEC-10 and TEC-11 were drilled.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2019: cash 12 k in June and 19 k in August; PEMEX failed to load the July invoice into the NAFIN factoring portal; USD 1.55 MM shortfall to year-end; USD 2.25 MM contributed; TEC-2 shut in; VAT refunds USD 247 k in Nov-Dec.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2020-21: no actuals in the sheets; revenue USD 0.68 MM (COVID, no deliveries Apr-Jun) and 0.94 MM; the January-2020 forecast needed a further USD 1.1 MM.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2022: field shut in Feb; PEMEX paid MXN 8.2 MM for late-2021/early-2022 deliveries 3-5 months late (May-Jul); Idesa's last entries Mar-May; Jaguar's first cash calls 15 Sep 2022; five staff paid off in December (MXN 660 k); year-end cash ≈ USD 6 k.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2023: Jaguar funded MXN 27.6 MM (USD 1.54 MM) to September and MXN 7.7 MM more to December; Petro Frontera (IFR) contributed USD 176 k and was served a default notice on 1 Oct 2023: diluted from 50 % to 44.19 % (Sep) and 42.63 % (Dec 2023), 40.24 % potential at Feb 2024.</a:t>
            </a:r>
          </a:p>
          <a:p>
            <a:pPr>
              <a:spcAft>
                <a:spcPts val="500"/>
              </a:spcAft>
              <a:defRPr sz="1000">
                <a:solidFill>
                  <a:srgbClr val="0B0B0B"/>
                </a:solidFill>
              </a:defRPr>
            </a:pPr>
            <a:r>
              <a:t>2024: Jaguar loans USD 2.07 MM to September (interest ~10-12 %/yr per JOA), spent on the CNH arrears and penalties (USD 443 k, April), the SEMARNAT PPCIEM fine (USD 606 k, May), audit, legal, environmental monitoring and the Jaguar admin fee (~USD 55 k/month); no crew, trucking or diesel lines: the field was not producing. Year-end 2024 forecast still USD 1.3 MM short.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Accounting: what the incoming operator should ask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The 2020-2021 actuals (cash, opex, G&amp;A, VAT, contributions) and the 2023 operating costs: none are in the files read; the 39 MB G&amp;A workbook for 2021 could not be rendered.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A balance sheet: payables at 25 Aug 2022 were USD 2.14 MM per the share-sale valuation; the abandonment trust column is empty in the 2024 sheets while the Fideicomiso sheet shows MXN 6.94 MM and a USD 411 k reserve.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The VAT position after 2019 (about USD 1.2 MM recoverable in Aug 2019, USD 247 k refunded, USD 0.7 MM forecast for 2020, nothing since).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Royalties 2020-2024 by month: only the April-2024 arrears settlement (USD 232 k + USD 150 k penalties) is visible; the monthly contractual quota to the FMP is the recurring fiscal line.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The JOA loan terms between Jaguar and Tonalli, the dilution mechanics (default notices Oct and Dec 2023) and the share register: the 2022 memo values 50 % of Tonalli at USD 1.32 MM net of payables and development costs.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Order of magnitude since 2016: ~USD 16.7 MM of partner money plus USD 4.45 MM gross revenue in; ~USD 6.5 MM capital paid (7.9 MM incurred), ~3.7 MM G&amp;A, ~2.2 MM regulatory and fines, ~1.1 MM opex, ~1 MM net VAT visible out; 2020-23 is the unquantified balance.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9. Reserves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PEMEX 2014: OOIP 7.8 MMbbl, RF 24 %, 6 kbbl 2P remaining at 9 bbl/d. GLJ YE2020 and YE2021: 2P 862-885 kbbl gross, of which TEC-10 196-205 and two undrilled wells (TEC-12, TEC-13) the rest.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OOIP 8-10-12 MMbbl (P90-P50-P10, task 7); remaining oil at a trend recovery factor 0.3-1.3 MMbbl depending on the OOIP.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Reserves by evaluator and category (gross, kbbl oil)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011680"/>
                <a:gridCol w="1188720"/>
                <a:gridCol w="2194560"/>
                <a:gridCol w="1188720"/>
                <a:gridCol w="1645920"/>
              </a:tblGrid>
              <a:tr h="295220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Evaluator, effective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1P (PDP /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2P (PDP /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3P (PDP /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Undrilled wells carried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PV10 BTAX, total 2P (USD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PEMEX / CNH data room, 1 Jan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none; OOIP 7.8 MMbbl, RF to date 24.4 %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6 -Resumen Campo Tecolutla.docx tables ii.1-ii.3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CNH El Abra trend table, Apr 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3P EUR 2,129 (27 %)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produced 1,913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El Abra Trend Field Analogies.xlsx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GLJ, 31 Dec 2020 (Tonalli, project 1212851)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99 / 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125 / 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164 / 1,238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TEC-12 DIR 197 / 335 / 493; TEC-13 HZ 322 (2P) / 460 (3P)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YE2020 Corporate Summary Detail (Final)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GLJ, 31 Dec 2021, Draft 1 (project 1223410)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92 / 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125 / 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170 / 1,279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TEC-12 DIR 209 / 350 / 516; TEC-13 HZ 339 / 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Tecolutla (Tonalli) Dec 31 2021 Reserve Report Draft 1 (1cILp0-I)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Jaguar transaction valuation, 25 Aug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2P PV15 9.134 less development 3.972, abandonment 0.388, payables 2.141 = 2.633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TEC-12 and TEC-13 development USD 3.97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2022 Purchase and Sale Transactions memo (1ffaRgaw)</a:t>
                      </a:r>
                    </a:p>
                  </a:txBody>
                  <a:tcPr/>
                </a:tc>
              </a:tr>
              <a:tr h="2952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Repo (tasks 6-7), 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TEC-12 P50 218 kbbl (P90 65, P10 366) for a new vertical well in the produced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TEC-13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incremental NPV10 +0.27 MM at WTI 70 (0.81 price factor)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docs/06, docs/10, docs/15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OOIP by source and the recovery-factor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5214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828800"/>
                <a:gridCol w="822960"/>
                <a:gridCol w="731520"/>
                <a:gridCol w="548640"/>
                <a:gridCol w="2011680"/>
                <a:gridCol w="2103120"/>
              </a:tblGrid>
              <a:tr h="301752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Gross m / N/G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OOIP MMbbl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Recovery basis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PEMEX 2014 (CNH data room)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2.5 km²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5-12 %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24-38 %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24.4 % to date; 3P final 26.4 %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IFR 'Summary (GLJ)' sheet, all models 2020-23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630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42.3 / 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 MMbbl = 18 %; 1.2 MMbbl remaining at 29 %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GLJ 1P / 2P / 3P (YE2020 = YE2021)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401 / 515 / 630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GRV 59.6 / 74.1 / 87.4 kac·ft; 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 / 6 / 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5.44 / 8.30 / 11.16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EUR 31-36 % / 21-31 % / 17-27 %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Petrel Robertson geomodel, OWC -2,374 mSS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2.55 km²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46.8 / 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11.96 (12.04 on TEC-10 logs only; 7.59 on vintage 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Repo Monte Carlo (task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P90 8.1 / P50 10.0 / P10 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remaining at trend 29 %: 0.3 (CNH) / 0.9 (P50) / 1.3 (IFR) MMbbl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Reserves: what to carry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45</a:t>
            </a:r>
          </a:p>
        </p:txBody>
      </p:sp>
      <p:pic>
        <p:nvPicPr>
          <p:cNvPr id="4" name="Picture 3" descr="06_type_curv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852160" cy="27539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Producing reserves are one well: TEC-10 at 80-100 bbl/d initial in GLJ's decline (b 0.4-0.6) against an actual b of 0.49 and ~104 kbbl EUR; GLJ's 2P 196-205 kbbl for TEC-10 is high on the evidence (task 6).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Everything else is undrilled: TEC-12 (vertical, 250-600 kbbl technical in GLJ; 65-218-366 kbbl in this package) and TEC-13 (horizontal, 400-600 kbbl in GLJ, no basis in this package after TEC-11).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The field is 25 % recovered on the CNH OOIP and 20 % on the P50; the El Abra reef-rim median is 30 %: the prize is a few hundred kbbl to about 1.3 MMbbl, most of it in the upper, never-perforated zone whose fluid content is the open question (section 6).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Price: GLJ used 88 % of Brent; the settlements measure 0.81 × WTI (about 0.77 × Brent): apply the measured factor to any re-run.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Fiscal: contract royalties ~39-44 % of revenue; the March 2025 reform preserved contract terms per secondary sources (G-49, counsel to confirm).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For a re-booking: one static gradient on TEC-10, one bottom-hole fluid sample, a core-calibrated petrophysical pass on the upper zone, and the seismic package from Tonalli/Jaguar would remove the four largest uncertainties.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12. Operations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A minimal, largely rented battery on the TEC-10/TEC-2 pad; trucking to PEMEX's Ezequiel Ordóñez station; water hauled to third-party disposal until Aug 2019, then injected at TEC-7.</a:t>
            </a:r>
          </a:p>
          <a:p>
            <a:pPr>
              <a:defRPr sz="1400">
                <a:solidFill>
                  <a:srgbClr val="52514E"/>
                </a:solidFill>
              </a:defRPr>
            </a:pPr>
            <a:r>
              <a:t>Operating mode 2018-2022, the cost base, staffing as the tickets show it, and the filing calendar the incoming operator inherits.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Facilities: planned (2017) versus as operated (2018-2022)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  <a:gridCol w="4754880"/>
                <a:gridCol w="1828800"/>
              </a:tblGrid>
              <a:tr h="295220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2017 Plan de Evaluación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As built / as operated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'Batería de recolección TEC-10': two 36 in × 120 in three-phase separators with turbine meters (600 m³/d liquid), two 750-bbl API-650 tanks expandable to six, water tank, fuel-gas system, up to two 1.5 MW generators, API-521 flare, truck-loading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Wellsite test equipment; rented three-phase separator MXN 216 k/month Sep 2019-Mar 2020; own three-phase separator (20 in OD × 10 ft, 1,440 psi, NACE) and ecological burner from 8 Mar 2020; rented frac tanks (Oro Negro, MXN 32 k/month) throughout; 60 m³ pit; two 8.3 HP motor-pumps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PE2017; SASISOPA inventory (1Kc7j1Ue); Op Cost 290920; Fideicomiso 2024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Flowlines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Discharge lines TEC-2 and TEC-10 to the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514 m of 2 in sch 80 A106 Gr B sour-service line with class 300 valves installed 17 Dec 2019 (0.52 km TEC-10DES to TEC-2 pad in the abandonment list); spec TONALLI-INFRA-002 issued Feb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Inventory row 89; 1LawOYRR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Trucks to PEMEX EORD (Ezequiel Ordóñez) then PEMEX 12 in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885 truck tickets Jul 2018-Dec 2022: 519 loads to Ezequiel Ordóñez (EZOR), 4 to Santa Agueda; hauliers PHC 258, Nuevo Amanecer 197, TDH 175 (2021-22), Carga Sedimentaria 153, CBG 61; 30 m³ vacuum-pressure units; PEMEX-agreed BS&amp;W and monthly 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Tecolutla Production Tracking.xlsx (TRUCKING, Reconciliation)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Injection-pump space for 2,000 m³/d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Hauled: 3.7 kbbl flowback to ESA (2018), 12 kbbl to Mozutla-1 (2018), 44 kbbl to Mozutla-1/-7 (2019); from Aug 2019 TEC-7 injection string (2 3/8 in, packer ±2,300 m); no injected volumes or pressures in any file; 2020-21 produced water 48 and 74 kbbl (WC 72-81 %)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Tracking; Anexo 3 estado mecánico TEC-7; CNH annual filings</a:t>
                      </a:r>
                    </a:p>
                  </a:txBody>
                  <a:tcPr/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Fuel gas and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Vented/flared throughout; 0.9 MMcf flared Nov 2022 under the approved evaluation-programme burn; 1,130-1,155 BTU/scf, 11 % CO2, 1-1.75 % H2S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CNH_DGM_BALANCES; fluids notes §2</a:t>
                      </a:r>
                    </a:p>
                  </a:txBody>
                  <a:tcPr/>
                </a:tc>
              </a:tr>
              <a:tr h="2952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Turbine meters, TOM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Fiscal turbine meter at 'CAB Poza Rica'; delivery at Estación de Bombeo Ezequiel Ordóñez, La Guasima, Papantla; ticket top/mid/bottom BS&amp;W and API; PEMEX statements reconcile to tickets within 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Tabla Informe Mensual CNH Nov 2022; Reconciliation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Operating mode 2018-2023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7680960"/>
              </a:tblGrid>
              <a:tr h="283464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Producing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What happened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Mar-Aug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 flowback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TEC-2 static gradient and 22-day test (8 m³/d oil, 90 % water); TEC-10 drilled 11 Apr-4 May, flowback 23 Jul-6 Aug, build-up to 31 Aug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Sep-Dec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 (+ TEC-2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First sales to EZOR Sep 2018; TEC-10 ~181 bbl/d in Oct; TEC-11 drilled 11 Nov-18 Dec; 14.4 kbbl sold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Jan-Aug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TEC-10, TEC-2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TEC-11 completion May-Sep: water only; TEC-7 converted to injector 26 Aug; last water hauls Aug 2019; 33.8 kbbl sold in the year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Sep 2019-Mar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 (TEC-2 shut in Sep 2019, commingled again for testing from 31 Jan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PEMEX factoring stalled; break-even 60 bbl/d at USD 54; own separator and burner 8 Mar 2020; last load 20 Mar 2020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Apr-Jun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Shut in on the price collapse; no deliveries; Programa de Transición request dismissed 7 Aug 2020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Jul 2020-Jan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1,300-2,600 bbl/month (2020), 730-2,335 (2021); choke opened Feb 2021; 17.2 and 18.0 kbbl sold; water cut 72-81 %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 Feb-23 Nov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Production stopped after the CNH rejected the Informe de Evaluación; Programa de Transición approved 18 Jul; Jaguar in 25 Aug; TEC-11 temporary abandonment notice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24 Nov-Dec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Restarted: 678 bbl net in 15 days (Nov), 916 bbl delivered; 4 loads in December unsettled; five staff paid off 15-20 Dec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2023-2024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none recorded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All four Tonalli-era wells listed shut-in in the 2024 abandonment sheet; 2024 payments show environmental monitoring, audit, legal and fines but no crew, trucking or diesel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Cost base, staffing, filings and HSE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Cost base at Sep 2020 (field producing ~50 bbl/d): about USD 28 k/month: crew MXN 280 k (Servicio de Ingeniería, Instrumentación y Conexos), vacuum truck MXN 108 k (TDH), diesel 60 k, consumables 40 k, frac tank 32 k, water analyses 21 k, Intertek crude analysis USD 1.5 k, demulsifier USD 0.9 k; separator rental added MXN 216 k/month until March 2020. 2019 opex USD 839 k (USD 25.6/bbl); GLJ carried 1,400-1,670 USD/well/month plus 3.75-5.85 USD/bbl plus USD 227-276 k/yr field.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Staff: a contracted field crew; Tonalli site signatories on the tickets (Bernardo Leandro López, José Briviesca Ramos, Francisco Ramírez, Roberto Maldonado); a SISOPA coordinator; corporate administration USD 39 k/month in the 2022 CNH report; no headcount table exists; severance for five staff in Dec 2022.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Filings: CNH monthly production, test, daily-by-installation and balance formats (DGM 01-07), the monthly activities-and-investments report (contract clause 4.1), annual consolidated production (Anexo III.8.III), annual production forecast table, CRE semi-annual sales report, PEMEX monthly conciliation; LISH exploration fee and activity tax on 7.16 km² (USD ~1.1 k/month now, 3.6 k in the extraction phase).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HSE and regulatory: SASISOPA in place (Apr 2020 inventory; drills, PPE, H2S training, gas detection); flowline and storage to NOM-009-ASEA-2017 and NOM-006-ASEA-2017, NACE MR0175; ASEA implementation-plan approval 2018 and 2022 correspondence; SEMARNAT PPCIEM fine USD 606 k paid May 2024; CNH arrears and penalties USD 443 k paid April 2024; quarterly OGI-camera emissions monitoring contracted in 2024.</a:t>
            </a:r>
          </a:p>
          <a:p>
            <a:pPr>
              <a:spcAft>
                <a:spcPts val="500"/>
              </a:spcAft>
              <a:defRPr sz="1100">
                <a:solidFill>
                  <a:srgbClr val="0B0B0B"/>
                </a:solidFill>
              </a:defRPr>
            </a:pPr>
            <a:r>
              <a:t>Wells to watch: TEC-9 wellhead flagged as a safety and environmental hazard in the Work Program; TEC-11 plugged with a composite plug only (no cement); TEC-7 injected produced water 2020-21 (ASEA authorisation 1712/2019) but no volumes or pressures are in the files; TEC-2 and TEC-7 heads partially dismantled, accepted in 2017 without integrity tests.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13. What the incoming operator inherits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514E"/>
                </a:solidFill>
              </a:defRPr>
            </a:pPr>
            <a:r>
              <a:t>Four shut-in Tonalli-era wells, a minimal battery, a transition programme approved in 2022, a 50/50-turned-57/43 partnership funded by Jaguar loans, and one open technical question worth more than everything else.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Decisions and the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Technical: (1) static gradient on TEC-10 after four years shut in; (2) bottom-hole fluid sample for a first PVT (G-31); (3) core-calibrated petrophysics of the upper zone at TEC-10 and a log-and-test-before-completing rule for any new well (G-47); (4) obtain the Petrel project, SEG-Y and velocity model; (5) settle one top-El-Abra pick per well and the TEC-7 injection records (G-57).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Commercial: the PEMEX formula is transparent (0.81 × WTI realised); the issues are payment timing, nomination penalties on an intermittent producer and the 2.7-3.3 USD/bbl of fixed tariffs.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Financial: no 2020-21 or 2023 actuals in the files; payables were USD 2.14 MM at Aug 2022; Jaguar loans USD 2.07 MM in 2024 at JOA interest; fines and arrears of ~USD 1.05 MM paid in 2024; abandonment reserve USD 411 k against a MXN 6.9 MM trust.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Regulatory: a Plan de Desarrollo has never been approved; the field produced under the evaluation period and the transition programme; 2025 reform terms to be confirmed by counsel (G-49).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Economics of the next well (task 10, 0.81 price factor): incremental to a producing TEC-10, NPV10 +0.27 MM at WTI 70, break-even ~65; stand-alone break-even ~80: it works for an operator that already carries the field.</a:t>
            </a:r>
          </a:p>
          <a:p>
            <a:pPr>
              <a:spcAft>
                <a:spcPts val="500"/>
              </a:spcAft>
              <a:defRPr sz="1200">
                <a:solidFill>
                  <a:srgbClr val="0B0B0B"/>
                </a:solidFill>
              </a:defRPr>
            </a:pPr>
            <a:r>
              <a:t>Register: 53 gaps in docs/gaps.md, 13 open before this deck; new items from this deck are G-54 (TEC-2/3 casing, since closed from the PEMEX and CNH well records), G-55 (seismic package not in the repo), G-56 (2020-21 and 2023 accounting actuals, 2021 G&amp;A file unreadable), G-57 (TEC-7 injection volumes and current string status).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B0B"/>
                </a:solidFill>
              </a:defRPr>
            </a:pPr>
            <a:r>
              <a:t>Sources behind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14E"/>
                </a:solidFill>
              </a:defRPr>
            </a:pPr>
            <a:r>
              <a:t>52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3856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7315200"/>
              </a:tblGrid>
              <a:tr h="286512"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Repository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/>
                      </a:pPr>
                      <a:r>
                        <a:t>Drive files read for this deck (ids in data/processed/deck_notes/drive_reads_notes.md)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docs/04, 13; data/processed/wells/casing_strings.csv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PEMEX informes finales TEC-5/6; estados mecánicos TEC-5/7/9/101 (2006) and TEC-2/7/11 (2019-22); Halliburton TEC-10 and TEC-11 cementing reports; Latina injectivity test; TEC-11 abandonment notice; Tonalli letters to PEP 2022; 2022 share transactions memo; Fideicomiso 2024-25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docs/05, 04, 06,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IHS PTA reports (repo); CNH Nov-2022 formats (repo)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data/processed/deck_notes/fluids_rock_core_notes.md; docs/09, 12,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Stratascan petrography (1OG5lzvl); 25 fluid analyses (repo)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7, 8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data/processed/deck_notes/geology_geophysics_notes.md; docs/03, 07,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3D Seismic Interpretation Summary (2018); Plan de Evaluación May 2017 (English); GLJ YE2019 top-structure map; block base-map captions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data/processed/deck_notes/wells_ops_reserves_notes.md §4; docs/06, 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GLJ YE2021 Draft 1 reserve report; YE2020 detail (repo)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data/processed/deck_notes/accounting_notes.md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TONALLI BUDGET Actual 2019 Forecast 2020; Tonalli Cash Dec 2022; Summary of Cash Calls Sep 2024; 06_CashFlow acumulado 2024; Op Cost Sep 2020; directors' memo Sep 2019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docs/15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PEMEX Feb-2020 pricing calc; transport-system specification; TDH letter</a:t>
                      </a:r>
                    </a:p>
                  </a:txBody>
                  <a:tcPr/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wells_ops_reserves_notes.md §3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SASISOPA inventory Apr 2020; Tecolutla Production Tracking.xlsx (repo)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