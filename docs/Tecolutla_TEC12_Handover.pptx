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Tecolutla / TEC-12 — technical handover on reconciled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Contractual Area 24, Tampico-Misantla, Veracruz. Operator Tonalli Energía (IFR JV).</a:t>
            </a:r>
          </a:p>
          <a:p>
            <a:pPr>
              <a:spcAft>
                <a:spcPts val="600"/>
              </a:spcAft>
              <a:defRPr sz="1400"/>
            </a:pPr>
            <a:r>
              <a:t>Two deliverables: field history on reconciled data; TEC-12 new-drill justification.</a:t>
            </a:r>
          </a:p>
          <a:p>
            <a:pPr>
              <a:spcAft>
                <a:spcPts val="600"/>
              </a:spcAft>
              <a:defRPr sz="1400"/>
            </a:pPr>
            <a:r>
              <a:t>Everything traces to a file, sheet and cell: 150 source files (SHA256 manifest), ten task notes, 50-item gap register.</a:t>
            </a:r>
          </a:p>
          <a:p>
            <a:pPr>
              <a:spcAft>
                <a:spcPts val="600"/>
              </a:spcAft>
              <a:defRPr sz="1400"/>
            </a:pPr>
            <a:r>
              <a:t>Prepared by Kevin Gunning, P.Eng. Version 4 of the review, September 2026.</a:t>
            </a:r>
          </a:p>
          <a:p>
            <a:pPr>
              <a:spcAft>
                <a:spcPts val="600"/>
              </a:spcAft>
              <a:defRPr sz="1400"/>
            </a:pPr>
            <a:r>
              <a:t>Conventions: depths mMD / mSS as labelled; USD unless labelled CAD; pressures at 2,300 mSS; nothing interpolated.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1. What changed from version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Field cumulative: 1.72 MMbbl recorded + 0.43 MMbbl PEMEX wellfile allocations = the '2.0'. v3 table omitted TEC-7 (267 kbbl).</a:t>
            </a:r>
          </a:p>
          <a:p>
            <a:pPr>
              <a:spcAft>
                <a:spcPts val="600"/>
              </a:spcAft>
              <a:defRPr sz="1400"/>
            </a:pPr>
            <a:r>
              <a:t>Pressure: 24.65 MPa (1956, 2 h 45 min) to 24.15 MPa (2018, three wells) at 2,300 mSS: 2 % in 62 years; &gt;99 % of voidage replaced by influx.</a:t>
            </a:r>
          </a:p>
          <a:p>
            <a:pPr>
              <a:spcAft>
                <a:spcPts val="600"/>
              </a:spcAft>
              <a:defRPr sz="1400"/>
            </a:pPr>
            <a:r>
              <a:t>Type curve: the 345-400 kbbl curve embeds PEMEX recompletions; TEC-10 declines with b 0.49 to ~100 kbbl. Range 65 / 218 / 366 kbbl.</a:t>
            </a:r>
          </a:p>
          <a:p>
            <a:pPr>
              <a:spcAft>
                <a:spcPts val="600"/>
              </a:spcAft>
              <a:defRPr sz="1400"/>
            </a:pPr>
            <a:r>
              <a:t>Target window 2,294-2,311 mSS: water at TEC-10 on core-supported porosity (Sw &gt;= 1.1, no open fractures); at parity with the 353-kbbl producer at TEC-9 on an uncorrected 1973 sonic. Every barrel produced came from 2,303-2,332 mSS. Log and test the window at TEC-12 before completing (G-47).</a:t>
            </a:r>
          </a:p>
          <a:p>
            <a:pPr>
              <a:spcAft>
                <a:spcPts val="600"/>
              </a:spcAft>
              <a:defRPr sz="1400"/>
            </a:pPr>
            <a:r>
              <a:t>OOIP 7.8 (CNH) vs 11.2 (IFR) is petrophysics, not geometry: P90/P50/P10 8.1 / 10.0 / 12.2 MMbbl.</a:t>
            </a:r>
          </a:p>
          <a:p>
            <a:pPr>
              <a:spcAft>
                <a:spcPts val="600"/>
              </a:spcAft>
              <a:defRPr sz="1400"/>
            </a:pPr>
            <a:r>
              <a:t>AFE is USD 1,572,724 (deleted formula explains the 5,000); PPI-indexed to Sep 2026 (x1.297): USD 2.04 MM / CAD 2.84 MM.</a:t>
            </a:r>
          </a:p>
          <a:p>
            <a:pPr>
              <a:spcAft>
                <a:spcPts val="600"/>
              </a:spcAft>
              <a:defRPr sz="1400"/>
            </a:pPr>
            <a:r>
              <a:t>Every IFR model since 2020 costs TEC-12 as a TEC-10 re-entry, not the S-shape AFE well.</a:t>
            </a:r>
          </a:p>
          <a:p>
            <a:pPr>
              <a:spcAft>
                <a:spcPts val="600"/>
              </a:spcAft>
              <a:defRPr sz="1400"/>
            </a:pPr>
            <a:r>
              <a:t>Economics on GLJ's 1 Oct 2026 deck at 0.81 x WTI: incremental to a producing TEC-10, NPV10 +0.47 MM before tax (payout 27 months); stand-alone -0.45 MM; flat-WTI break-evens ~66 incremental, ~83 stand-alone.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2. Production database: 1,341 tidy rows, six sources, no interpolation</a:t>
            </a:r>
          </a:p>
        </p:txBody>
      </p:sp>
      <p:pic>
        <p:nvPicPr>
          <p:cNvPr id="3" name="Picture 2" descr="04_production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14400"/>
            <a:ext cx="4114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/>
            </a:pPr>
            <a:r>
              <a:t>CNH monthly 1966-2016 (four wells), CNH field level 1960-65, Tonalli tests, TEC-10 daily 2018-19, trucking tickets, PEMEX statements.</a:t>
            </a:r>
          </a:p>
          <a:p>
            <a:pPr>
              <a:spcAft>
                <a:spcPts val="600"/>
              </a:spcAft>
              <a:defRPr sz="1200"/>
            </a:pPr>
            <a:r>
              <a:t>Recorded 1.72 MMbbl to Dec 2022; 0.48 MMbbl of the March 2020 By Zone total is wellfile allocation.</a:t>
            </a:r>
          </a:p>
          <a:p>
            <a:pPr>
              <a:spcAft>
                <a:spcPts val="600"/>
              </a:spcAft>
              <a:defRPr sz="1200"/>
            </a:pPr>
            <a:r>
              <a:t>GOR: cumulative 565 scf/bbl 1966-92 (the source of IFR's 552); PEMEX measured 685 on TEC-6 in 1964. Stock-tank oil 30-31 API (Intertek 2018-19, OCR). No lab Rs or Pb exists.</a:t>
            </a:r>
          </a:p>
          <a:p>
            <a:pPr>
              <a:spcAft>
                <a:spcPts val="600"/>
              </a:spcAft>
              <a:defRPr sz="1200"/>
            </a:pPr>
            <a:r>
              <a:t>No per-well data after Nov 2019: sales are commingled (G-32).</a:t>
            </a:r>
          </a:p>
          <a:p>
            <a:pPr>
              <a:spcAft>
                <a:spcPts val="600"/>
              </a:spcAft>
              <a:defRPr sz="1200"/>
            </a:pPr>
            <a:r>
              <a:t>66 runs of missing months in the CNH record cannot be told from shut-ins (G-34).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3. Pressure at one datum: strong aquifer, measurable decline</a:t>
            </a:r>
          </a:p>
        </p:txBody>
      </p:sp>
      <p:pic>
        <p:nvPicPr>
          <p:cNvPr id="3" name="Picture 2" descr="05_pressure_deple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949440" cy="54602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914400"/>
            <a:ext cx="44805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/>
            </a:pPr>
            <a:r>
              <a:t>21 surveys 1956-2018 restated at 2,300 mSS; all 16 PEMEX scans OCR-verified (Tesseract + RapidOCR), one transcription error corrected.</a:t>
            </a:r>
          </a:p>
          <a:p>
            <a:pPr>
              <a:spcAft>
                <a:spcPts val="600"/>
              </a:spcAft>
              <a:defRPr sz="1200"/>
            </a:pPr>
            <a:r>
              <a:t>Initial 24.65 MPa is a 2 h 45 min reading on a new well; 1964 statics after 75-95 days agree.</a:t>
            </a:r>
          </a:p>
          <a:p>
            <a:pPr>
              <a:spcAft>
                <a:spcPts val="600"/>
              </a:spcAft>
              <a:defRPr sz="1200"/>
            </a:pPr>
            <a:r>
              <a:t>1971 TEC-6: 23.24 to 24.35 MPa between 4 and 74 days shut-in. Short shut-ins understate.</a:t>
            </a:r>
          </a:p>
          <a:p>
            <a:pPr>
              <a:spcAft>
                <a:spcPts val="600"/>
              </a:spcAft>
              <a:defRPr sz="1200"/>
            </a:pPr>
            <a:r>
              <a:t>2018: 24.14-24.16 MPa in three wells after ~2 MMbbl. Expansion alone would supply 11 kbbl.</a:t>
            </a:r>
          </a:p>
          <a:p>
            <a:pPr>
              <a:spcAft>
                <a:spcPts val="600"/>
              </a:spcAft>
              <a:defRPr sz="1200"/>
            </a:pPr>
            <a:r>
              <a:t>Both 2018 build-ups needed a constant-pressure boundary; TEC-10 also a no-flow boundary at 125 m.</a:t>
            </a:r>
          </a:p>
          <a:p>
            <a:pPr>
              <a:spcAft>
                <a:spcPts val="600"/>
              </a:spcAft>
              <a:defRPr sz="1200"/>
            </a:pPr>
            <a:r>
              <a:t>Recommendation 8 of v3 stands: the current shut-in is a free multi-year build-up. Measure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4. TEC-11: 720 m of lateral, metres by facies</a:t>
            </a:r>
          </a:p>
        </p:txBody>
      </p:sp>
      <p:pic>
        <p:nvPicPr>
          <p:cNvPr id="3" name="Picture 2" descr="03_tec11_lateral_fa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498079" cy="54640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914400"/>
            <a:ext cx="3931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/>
            </a:pPr>
            <a:r>
              <a:t>Carbonate from 2,360 mMD (2,245 mSS); lateral at 2,305-2,331 mSS, 4-12 m below the TEC-6/9 highest perforations.</a:t>
            </a:r>
          </a:p>
          <a:p>
            <a:pPr>
              <a:spcAft>
                <a:spcPts val="600"/>
              </a:spcAft>
              <a:defRPr sz="1200"/>
            </a:pPr>
            <a:r>
              <a:t>Lateral: 419 m mudstone-wackestone, 240 m grainstone-bearing (all mixed textures, compact), 31 m shale, 30 m bentonite.</a:t>
            </a:r>
          </a:p>
          <a:p>
            <a:pPr>
              <a:spcAft>
                <a:spcPts val="600"/>
              </a:spcAft>
              <a:defRPr sz="1200"/>
            </a:pPr>
            <a:r>
              <a:t>One moderate show (2,920-2,945 mMD); no show over 482 of 720 m.</a:t>
            </a:r>
          </a:p>
          <a:p>
            <a:pPr>
              <a:spcAft>
                <a:spcPts val="600"/>
              </a:spcAft>
              <a:defRPr sz="1200"/>
            </a:pPr>
            <a:r>
              <a:t>Facies, not depth. Exploration risk on a step-out, correctly taken and answered.</a:t>
            </a:r>
          </a:p>
          <a:p>
            <a:pPr>
              <a:spcAft>
                <a:spcPts val="600"/>
              </a:spcAft>
              <a:defRPr sz="1200"/>
            </a:pPr>
            <a:r>
              <a:t>Wording: 'wackestone to grainstone, compact', not 'miliolid grainstone' (G-27).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5. Eleven economic models, one basis</a:t>
            </a:r>
          </a:p>
        </p:txBody>
      </p:sp>
      <p:pic>
        <p:nvPicPr>
          <p:cNvPr id="3" name="Picture 2" descr="02_econ_model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498079" cy="51549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914400"/>
            <a:ext cx="3931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/>
            </a:pPr>
            <a:r>
              <a:t>Aug 2020, nine 'Feb 2022' (saved 11 Apr - 21 Jun 2022, suffixes out of order), Sept/Oct 2023.</a:t>
            </a:r>
          </a:p>
          <a:p>
            <a:pPr>
              <a:spcAft>
                <a:spcPts val="600"/>
              </a:spcAft>
              <a:defRPr sz="1200"/>
            </a:pPr>
            <a:r>
              <a:t>TEC-12 curve identical in all: qi 342, b 1.7, 300 bbl/d first month, 401 kbbl.</a:t>
            </a:r>
          </a:p>
          <a:p>
            <a:pPr>
              <a:spcAft>
                <a:spcPts val="600"/>
              </a:spcAft>
              <a:defRPr sz="1200"/>
            </a:pPr>
            <a:r>
              <a:t>What moved: WTI 30/90/GLJ deck/85; PEMEX factor 0.95/0.801/0.90 (settlements measure 0.81); well count; window placement.</a:t>
            </a:r>
          </a:p>
          <a:p>
            <a:pPr>
              <a:spcAft>
                <a:spcPts val="600"/>
              </a:spcAft>
              <a:defRPr sz="1200"/>
            </a:pPr>
            <a:r>
              <a:t>v6-v9 exclude 3.45 MM of TEC-12/13 capital by placing it before the window.</a:t>
            </a:r>
          </a:p>
          <a:p>
            <a:pPr>
              <a:spcAft>
                <a:spcPts val="600"/>
              </a:spcAft>
              <a:defRPr sz="1200"/>
            </a:pPr>
            <a:r>
              <a:t>2023 workbook descends from the 2020 file and prices TEC-12 as a 1.8 MM TEC-10 re-entry.</a:t>
            </a:r>
          </a:p>
          <a:p>
            <a:pPr>
              <a:spcAft>
                <a:spcPts val="600"/>
              </a:spcAft>
              <a:defRPr sz="1200"/>
            </a:pPr>
            <a:r>
              <a:t>Use the 2023 structure with new capital, price and profile; retire the 2022 series as a reference.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6. Type curve and the TEC-12 range</a:t>
            </a:r>
          </a:p>
        </p:txBody>
      </p:sp>
      <p:pic>
        <p:nvPicPr>
          <p:cNvPr id="3" name="Picture 2" descr="06_type_curve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680960" cy="36145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914400"/>
            <a:ext cx="374903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/>
            </a:pPr>
            <a:r>
              <a:t>Four PEMEX wells stacked by month on production reproduce the IFR workbook; the average rises again at months 100-130 and 250-300 as wells were re-perforated.</a:t>
            </a:r>
          </a:p>
          <a:p>
            <a:pPr>
              <a:spcAft>
                <a:spcPts val="600"/>
              </a:spcAft>
              <a:defRPr sz="1200"/>
            </a:pPr>
            <a:r>
              <a:t>TEC-10 (single completion, daily data): 181 bbl/d first full month, 78 at 12 months, ~21 at 45 months; b 0.49; ~104 kbbl.</a:t>
            </a:r>
          </a:p>
          <a:p>
            <a:pPr>
              <a:spcAft>
                <a:spcPts val="600"/>
              </a:spcAft>
              <a:defRPr sz="1200"/>
            </a:pPr>
            <a:r>
              <a:t>GLJ YE2020: 203 / 343 / 502 kbbl; Petrel Robertson 100 bbl/d base, 200 upside; Simmons volumes include TEC-13.</a:t>
            </a:r>
          </a:p>
          <a:p>
            <a:pPr>
              <a:spcAft>
                <a:spcPts val="600"/>
              </a:spcAft>
              <a:defRPr sz="1200"/>
            </a:pPr>
            <a:r>
              <a:t>Recommended: low 100 bbl/d, 65 kbbl; base 180 bbl/d, b 0.9, 218 kbbl; high 300 bbl/d, 366 kbbl.</a:t>
            </a:r>
          </a:p>
          <a:p>
            <a:pPr>
              <a:spcAft>
                <a:spcPts val="600"/>
              </a:spcAft>
              <a:defRPr sz="1200"/>
            </a:pPr>
            <a:r>
              <a:t>The 345 kbbl becomes the P10, requiring a PEMEX-style 30-year life with recompletions.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7. OOIP: 7.8 vs 11.2 is petrophysics</a:t>
            </a:r>
          </a:p>
        </p:txBody>
      </p:sp>
      <p:pic>
        <p:nvPicPr>
          <p:cNvPr id="3" name="Picture 2" descr="07_volu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680960" cy="26276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914400"/>
            <a:ext cx="374903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/>
            </a:pPr>
            <a:r>
              <a:t>7.8 MMbbl = PEMEX/CNH booked volume (3.1 km2). 11.2 = IFR, 630 ac, N/G 0.40, phi 7 %.</a:t>
            </a:r>
          </a:p>
          <a:p>
            <a:pPr>
              <a:spcAft>
                <a:spcPts val="600"/>
              </a:spcAft>
              <a:defRPr sz="1200"/>
            </a:pPr>
            <a:r>
              <a:t>Petrel Robertson geomodel: 7.6 with TEC-2/9 vintage-log petrophysics, 12.0 with TEC-10's logs, same rock volume.</a:t>
            </a:r>
          </a:p>
          <a:p>
            <a:pPr>
              <a:spcAft>
                <a:spcPts val="600"/>
              </a:spcAft>
              <a:defRPr sz="1200"/>
            </a:pPr>
            <a:r>
              <a:t>Monte Carlo P90/P50/P10: 8.1 / 10.0 / 12.2 MMbbl. Porosity and N/G swing +-2.5 MMbbl each.</a:t>
            </a:r>
          </a:p>
          <a:p>
            <a:pPr>
              <a:spcAft>
                <a:spcPts val="600"/>
              </a:spcAft>
              <a:defRPr sz="1200"/>
            </a:pPr>
            <a:r>
              <a:t>Tecolutla holds 2.5 MMbbl/km2 vs a reef-rim median of 8.3; RF to date 25 % (CNH) or 20 % (P50) vs trend 30 %.</a:t>
            </a:r>
          </a:p>
          <a:p>
            <a:pPr>
              <a:spcAft>
                <a:spcPts val="600"/>
              </a:spcAft>
              <a:defRPr sz="1200"/>
            </a:pPr>
            <a:r>
              <a:t>Remaining at 29 %: 0.3 (CNH) / 0.9 (P50) / 1.3 (IFR) MMbbl. TEC-12's logs are the appraisal of this 4 MMbbl spread.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8. Logs on one datum: GR polarity and the target window</a:t>
            </a:r>
          </a:p>
        </p:txBody>
      </p:sp>
      <p:pic>
        <p:nvPicPr>
          <p:cNvPr id="3" name="Picture 2" descr="09_log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863840" cy="46468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21040" y="914400"/>
            <a:ext cx="3566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/>
            </a:pPr>
            <a:r>
              <a:t>GR rises with porosity in every well (Spearman +0.28 to +0.49): clean GR = tight miliolid facies.</a:t>
            </a:r>
          </a:p>
          <a:p>
            <a:pPr>
              <a:spcAft>
                <a:spcPts val="600"/>
              </a:spcAft>
              <a:defRPr sz="1200"/>
            </a:pPr>
            <a:r>
              <a:t>Produced intervals: TEC-6 2,308-2,332, TEC-9 2,323-2,328, TEC-2 2,303-2,307, TEC-10 2,314-2,318 mSS.</a:t>
            </a:r>
          </a:p>
          <a:p>
            <a:pPr>
              <a:spcAft>
                <a:spcPts val="600"/>
              </a:spcAft>
              <a:defRPr sz="1200"/>
            </a:pPr>
            <a:r>
              <a:t>Target window 2,294-2,311 mSS: TEC-10 phi 9-11 %, ILD 4-5 ohm.m, N-D separation, PE 3.8, Archie Sw ~1; TEC-9 ILD 3-5 ohm.m.</a:t>
            </a:r>
          </a:p>
          <a:p>
            <a:pPr>
              <a:spcAft>
                <a:spcPts val="600"/>
              </a:spcAft>
              <a:defRPr sz="1200"/>
            </a:pPr>
            <a:r>
              <a:t>Resistivity rises to 15-50 ohm.m below ~2,310 mSS in both wells; Tonalli did not perforate the upper zone after logging it.</a:t>
            </a:r>
          </a:p>
          <a:p>
            <a:pPr>
              <a:spcAft>
                <a:spcPts val="600"/>
              </a:spcAft>
              <a:defRPr sz="1200"/>
            </a:pPr>
            <a:r>
              <a:t>Free water or clay-bound water in an argillaceous carbonate: the logs alone cannot say. Core-calibrated evaluation of TEC-10 before sanction (G-47).</a:t>
            </a:r>
          </a:p>
          <a:p>
            <a:pPr>
              <a:spcAft>
                <a:spcPts val="600"/>
              </a:spcAft>
              <a:defRPr sz="1200"/>
            </a:pPr>
            <a:r>
              <a:t>TEC-10 top perf is 2,314 mSS on the survey vs 2,311.5 in the summary sheet; all TEC-10 depths here are on the survey, KB 6.13 m (G-46 closed by decision).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9. AFE: USD 1,572,724, priced on 2018 rates</a:t>
            </a:r>
          </a:p>
        </p:txBody>
      </p:sp>
      <p:pic>
        <p:nvPicPr>
          <p:cNvPr id="3" name="Picture 2" descr="08_a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680960" cy="31627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914400"/>
            <a:ext cx="374903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/>
            </a:pPr>
            <a:r>
              <a:t>Sep 2021 copy shows 1,567,724 because the SUB formula on Drilling Pad Maintenance (5,000) was deleted; daily totals still include it.</a:t>
            </a:r>
          </a:p>
          <a:p>
            <a:pPr>
              <a:spcAft>
                <a:spcPts val="600"/>
              </a:spcAft>
              <a:defRPr sz="1200"/>
            </a:pPr>
            <a:r>
              <a:t>Rig and move 27 %, tubulars and wellhead 23 %, mud and disposal 18 %; day rates identical to the TEC-11 Dec-2018 tracker.</a:t>
            </a:r>
          </a:p>
          <a:p>
            <a:pPr>
              <a:spcAft>
                <a:spcPts val="600"/>
              </a:spcAft>
              <a:defRPr sz="1200"/>
            </a:pPr>
            <a:r>
              <a:t>No contingency, no production casing, no owner's costs. TEC-11 came in +12 % over budget.</a:t>
            </a:r>
          </a:p>
          <a:p>
            <a:pPr>
              <a:spcAft>
                <a:spcPts val="600"/>
              </a:spcAft>
              <a:defRPr sz="1200"/>
            </a:pPr>
            <a:r>
              <a:t>Currency USD: Tonalli cost format 'Dolares', models in US$, confirmed by the author 16 Sep 2026 (G-44 resolved).</a:t>
            </a:r>
          </a:p>
          <a:p>
            <a:pPr>
              <a:spcAft>
                <a:spcPts val="600"/>
              </a:spcAft>
              <a:defRPr sz="1200"/>
            </a:pPr>
            <a:r>
              <a:t>Escalated to Sep 2026 on the US drilling PPI (309.4 -&gt; 401.3, x1.297; G-45 closed): base USD 2.04 MM = CAD 2.84 MM at 1.3915; range x1.15-1.40 = USD 1.81-2.20 MM.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10. Economics rebuilt on the 2023 structure</a:t>
            </a:r>
          </a:p>
        </p:txBody>
      </p:sp>
      <p:pic>
        <p:nvPicPr>
          <p:cNvPr id="3" name="Picture 2" descr="10_econ_re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498079" cy="30992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914400"/>
            <a:ext cx="3931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/>
            </a:pPr>
            <a:r>
              <a:t>GLJ 1 Oct 2026 prices (WTI 81 / 75 / 73, then +2 %/yr), costs +2 %/yr; 2023 royalty, tax and opex terms; PPI-indexed AFE; area fiscal charges (USD 2.6 k/month) in the stand-alone case only; start Jan 2027; 100 % WI; no G&amp;A, no carry.</a:t>
            </a:r>
          </a:p>
          <a:p>
            <a:pPr>
              <a:spcAft>
                <a:spcPts val="600"/>
              </a:spcAft>
              <a:defRPr sz="1200"/>
            </a:pPr>
            <a:r>
              <a:t>Realised price 0.81 x WTI from 37 PEMEX settlements (2020-22). Stand-alone NPV10 BTAX on GLJ: base -0.45 MM, high +0.33, low -1.57; flat-WTI break-even ~83.</a:t>
            </a:r>
          </a:p>
          <a:p>
            <a:pPr>
              <a:spcAft>
                <a:spcPts val="600"/>
              </a:spcAft>
              <a:defRPr sz="1200"/>
            </a:pPr>
            <a:r>
              <a:t>Incremental to a producing TEC-10 (battery, disposal and area fees already carried): base +0.47 MM BTAX (+0.11 ATAX), payout 27 months, IRR 29 %; high +1.44; low -1.02; flat-WTI break-even ~66. At the 2023 model's 0.90 factor the base would be +0.99.</a:t>
            </a:r>
          </a:p>
          <a:p>
            <a:pPr>
              <a:spcAft>
                <a:spcPts val="600"/>
              </a:spcAft>
              <a:defRPr sz="1200"/>
            </a:pPr>
            <a:r>
              <a:t>Royalties and area fees 41-44 % of revenue; fixed costs end the stand-alone base case at 54 months with 127 of 218 kbbl produced; incremental runs 175 months, 203 kbbl.</a:t>
            </a:r>
          </a:p>
          <a:p>
            <a:pPr>
              <a:spcAft>
                <a:spcPts val="600"/>
              </a:spcAft>
              <a:defRPr sz="1200"/>
            </a:pPr>
            <a:r>
              <a:t>WTI ~USD 100 in mid-Sep 2026 on a supply disruption; long-term decks 70-80. The 2025 reform leaves contract terms unchanged (LSH transitorio Décimo, G-49).</a:t>
            </a:r>
          </a:p>
          <a:p>
            <a:pPr>
              <a:spcAft>
                <a:spcPts val="600"/>
              </a:spcAft>
              <a:defRPr sz="1200"/>
            </a:pPr>
            <a:r>
              <a:t>v3's overhead finding stands: the well works for an operator that already carries the field, not for a single-asset company.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11. New sources read in the second pass: CNH polygon, CMI fractures</a:t>
            </a:r>
          </a:p>
        </p:txBody>
      </p:sp>
      <p:pic>
        <p:nvPicPr>
          <p:cNvPr id="3" name="Picture 2" descr="14_cmi_frac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035040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92240" y="914400"/>
            <a:ext cx="53949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/>
            </a:pPr>
            <a:r>
              <a:t>Ten large Drive files read through the connector's text rendering (Work Program, GLJ detail, core report, mud logs, gauge data): docs/12.</a:t>
            </a:r>
          </a:p>
          <a:p>
            <a:pPr>
              <a:spcAft>
                <a:spcPts val="600"/>
              </a:spcAft>
              <a:defRPr sz="1200"/>
            </a:pPr>
            <a:r>
              <a:t>CNH field polygon (2015 data room): 3.14 km2, all nine wells inside; IFR's 630 ac = 2.55 km2 is 81 % of it. An administrative outline, the upper bound of the OOIP range (G-43 closed).</a:t>
            </a:r>
          </a:p>
          <a:p>
            <a:pPr>
              <a:spcAft>
                <a:spcPts val="600"/>
              </a:spcAft>
              <a:defRPr sz="1200"/>
            </a:pPr>
            <a:r>
              <a:t>CNH forecast tables filed for 2021 and 2022 carry the IFR 2020 TEC-12 curve (300 bbl/d first month), not 500 kbbl (G-22 closed).</a:t>
            </a:r>
          </a:p>
          <a:p>
            <a:pPr>
              <a:spcAft>
                <a:spcPts val="600"/>
              </a:spcAft>
              <a:defRPr sz="1200"/>
            </a:pPr>
            <a:r>
              <a:t>CNH annual filings: 16.1 kbbl (2020, both wells, Apr-Jun shut in), 17.4 kbbl (2021, TEC-10 only, GOR 859 scf/bbl, 29.3 API); field shut in from Jul 2022, restarted late Nov 2022 on TEC-10.</a:t>
            </a:r>
          </a:p>
          <a:p>
            <a:pPr>
              <a:spcAft>
                <a:spcPts val="600"/>
              </a:spcAft>
              <a:defRPr sz="1200"/>
            </a:pPr>
            <a:r>
              <a:t>TEC-10 core (only rock data): recrystallised grainstone, 2-8 % porosity, 0.01-0.5 mD at stress, 14-59 % PV residual oil; no electrical properties.</a:t>
            </a:r>
          </a:p>
          <a:p>
            <a:pPr>
              <a:spcAft>
                <a:spcPts val="600"/>
              </a:spcAft>
              <a:defRPr sz="1200"/>
            </a:pPr>
            <a:r>
              <a:t>CMI (right): no open fracture in the TEC-12 window or the perforated 10 m; open fractures start below 2,320 mSS in the produced, water-bearing interval. TEC-10 is matrix flow (G-09 closed).</a:t>
            </a:r>
          </a:p>
          <a:p>
            <a:pPr>
              <a:spcAft>
                <a:spcPts val="600"/>
              </a:spcAft>
              <a:defRPr sz="1200"/>
            </a:pPr>
            <a:r>
              <a:t>Sw sensitivity (72 cases, anchored to the aquifer and the producing interval): the window is water at TEC-10 on the core-supported density porosity, Sw &gt;= 1.1 vs 0.6-1.0 in the perforations; N-D crossover flips sign at 2,311 mSS. At TEC-9 (118 m from TEC-12) the 1973 sonic puts the window at parity with the 353-kbbl producer unless 20 %+ of its porosity is shale effect. Base case on 2,311-2,332 mSS; log and test the window at TEC-12 before completing (docs/14).</a:t>
            </a:r>
          </a:p>
          <a:p>
            <a:pPr>
              <a:spcAft>
                <a:spcPts val="600"/>
              </a:spcAft>
              <a:defRPr sz="1200"/>
            </a:pPr>
            <a:r>
              <a:t>2025 reform: contract fiscal terms preserved per secondary sources; regulator now CNE; contract-to-assignment substitution clause to be checked by counsel (G-49).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12. Decisions and the gap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Before sanction: (1) core-calibrated petrophysics of TEC-10's upper zone (G-47); (2) static gradient on TEC-10 after the multi-year shut-in; (3) escalation indexed on the drilling PPI (G-45 closed; AFE currency USD confirmed); (4) pull the ten large-file binaries into data/raw (G-52; their text was read, docs/12).</a:t>
            </a:r>
          </a:p>
          <a:p>
            <a:pPr>
              <a:spcAft>
                <a:spcPts val="600"/>
              </a:spcAft>
              <a:defRPr sz="1400"/>
            </a:pPr>
            <a:r>
              <a:t>If the window is water: move the target to 2,311-2,332 mSS (the produced interval in every well) and re-run the base case.</a:t>
            </a:r>
          </a:p>
          <a:p>
            <a:pPr>
              <a:spcAft>
                <a:spcPts val="600"/>
              </a:spcAft>
              <a:defRPr sz="1400"/>
            </a:pPr>
            <a:r>
              <a:t>Quote volumes as: recorded 1.72 MMbbl; OOIP 8-10-12; TEC-12 65/218/366 kbbl; AFE USD 1.57 MM (2020) / ~2.0 MM (2026).</a:t>
            </a:r>
          </a:p>
          <a:p>
            <a:pPr>
              <a:spcAft>
                <a:spcPts val="600"/>
              </a:spcAft>
              <a:defRPr sz="1400"/>
            </a:pPr>
            <a:r>
              <a:t>Wording fixes for any external document: CMI not FMI; 'wackestone to grainstone, compact'; 'within 2 % of initial pressure'; Simmons volumes are two wells.</a:t>
            </a:r>
          </a:p>
          <a:p>
            <a:pPr>
              <a:spcAft>
                <a:spcPts val="600"/>
              </a:spcAft>
              <a:defRPr sz="1400"/>
            </a:pPr>
            <a:r>
              <a:t>53 gaps logged in docs/gaps.md with status; 13 remain open. Kevin: the Aug-2025 re-saves (G-03), which well the 2023 model priced (G-17), the 2020 CNH filing gross-vs-net oil (G-53), a Drive API pull or manual download of the ten large binaries (G-52).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