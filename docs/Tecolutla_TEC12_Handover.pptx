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Tecolutla / TEC-12 — technical handover on reconciled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Contractual Area 24, Tampico-Misantla, Veracruz. Operator Tonalli Energía (IFR JV).</a:t>
            </a:r>
          </a:p>
          <a:p>
            <a:pPr>
              <a:spcAft>
                <a:spcPts val="600"/>
              </a:spcAft>
              <a:defRPr sz="1400"/>
            </a:pPr>
            <a:r>
              <a:t>Two deliverables: field history on reconciled data; TEC-12 new-drill justification.</a:t>
            </a:r>
          </a:p>
          <a:p>
            <a:pPr>
              <a:spcAft>
                <a:spcPts val="600"/>
              </a:spcAft>
              <a:defRPr sz="1400"/>
            </a:pPr>
            <a:r>
              <a:t>Everything traces to a file, sheet and cell: 150 source files (SHA256 manifest), ten task notes, 50-item gap register.</a:t>
            </a:r>
          </a:p>
          <a:p>
            <a:pPr>
              <a:spcAft>
                <a:spcPts val="600"/>
              </a:spcAft>
              <a:defRPr sz="1400"/>
            </a:pPr>
            <a:r>
              <a:t>Prepared by Kevin Gunning, P.Eng. Version 4 of the review, September 2026.</a:t>
            </a:r>
          </a:p>
          <a:p>
            <a:pPr>
              <a:spcAft>
                <a:spcPts val="600"/>
              </a:spcAft>
              <a:defRPr sz="1400"/>
            </a:pPr>
            <a:r>
              <a:t>Conventions: depths mMD / mSS as labelled; USD unless labelled CAD; pressures at 2,300 mSS; nothing interpolated.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1. What changed from version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Field cumulative: 1.72 MMbbl recorded + 0.43 MMbbl PEMEX wellfile allocations = the '2.0'. v3 table omitted TEC-7 (267 kbbl).</a:t>
            </a:r>
          </a:p>
          <a:p>
            <a:pPr>
              <a:spcAft>
                <a:spcPts val="600"/>
              </a:spcAft>
              <a:defRPr sz="1400"/>
            </a:pPr>
            <a:r>
              <a:t>Pressure: 24.65 MPa (1956, 2 h 45 min) to 24.15 MPa (2018, three wells) at 2,300 mSS: 2 % in 62 years; &gt;99 % of voidage replaced by influx.</a:t>
            </a:r>
          </a:p>
          <a:p>
            <a:pPr>
              <a:spcAft>
                <a:spcPts val="600"/>
              </a:spcAft>
              <a:defRPr sz="1400"/>
            </a:pPr>
            <a:r>
              <a:t>Type curve: the 345-400 kbbl curve embeds PEMEX recompletions; TEC-10 declines with b 0.49 to ~100 kbbl. Range 65 / 218 / 366 kbbl.</a:t>
            </a:r>
          </a:p>
          <a:p>
            <a:pPr>
              <a:spcAft>
                <a:spcPts val="600"/>
              </a:spcAft>
              <a:defRPr sz="1400"/>
            </a:pPr>
            <a:r>
              <a:t>Target window 2,294-2,311 mSS reads 4-5 ohm.m in TEC-9 and TEC-10; every barrel produced came from 2,303-2,332 mSS. Decisive open item (G-47).</a:t>
            </a:r>
          </a:p>
          <a:p>
            <a:pPr>
              <a:spcAft>
                <a:spcPts val="600"/>
              </a:spcAft>
              <a:defRPr sz="1400"/>
            </a:pPr>
            <a:r>
              <a:t>OOIP 7.8 (CNH) vs 11.2 (IFR) is petrophysics, not geometry: P90/P50/P10 8.1 / 10.0 / 12.2 MMbbl.</a:t>
            </a:r>
          </a:p>
          <a:p>
            <a:pPr>
              <a:spcAft>
                <a:spcPts val="600"/>
              </a:spcAft>
              <a:defRPr sz="1400"/>
            </a:pPr>
            <a:r>
              <a:t>AFE is USD 1,572,724 (deleted formula explains the 5,000); escalated base USD 1.97 MM / CAD 2.74 MM.</a:t>
            </a:r>
          </a:p>
          <a:p>
            <a:pPr>
              <a:spcAft>
                <a:spcPts val="600"/>
              </a:spcAft>
              <a:defRPr sz="1400"/>
            </a:pPr>
            <a:r>
              <a:t>Every IFR model since 2020 costs TEC-12 as a TEC-10 re-entry, not the S-shape AFE well.</a:t>
            </a:r>
          </a:p>
          <a:p>
            <a:pPr>
              <a:spcAft>
                <a:spcPts val="600"/>
              </a:spcAft>
              <a:defRPr sz="1400"/>
            </a:pPr>
            <a:r>
              <a:t>Rebuilt economics: incremental to a producing TEC-10, NPV10 +0.76 MM at WTI 70; stand-alone, break-even at WTI ~72.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2. Production database: 1,341 tidy rows, six sources, no interpolation</a:t>
            </a:r>
          </a:p>
        </p:txBody>
      </p:sp>
      <p:pic>
        <p:nvPicPr>
          <p:cNvPr id="3" name="Picture 2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3152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14400"/>
            <a:ext cx="4114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CNH monthly 1966-2016 (four wells), CNH field level 1960-65, Tonalli tests, TEC-10 daily 2018-19, trucking tickets, PEMEX statements.</a:t>
            </a:r>
          </a:p>
          <a:p>
            <a:pPr>
              <a:spcAft>
                <a:spcPts val="600"/>
              </a:spcAft>
              <a:defRPr sz="1200"/>
            </a:pPr>
            <a:r>
              <a:t>Recorded 1.72 MMbbl to Dec 2022; 0.48 MMbbl of the March 2020 By Zone total is wellfile allocation.</a:t>
            </a:r>
          </a:p>
          <a:p>
            <a:pPr>
              <a:spcAft>
                <a:spcPts val="600"/>
              </a:spcAft>
              <a:defRPr sz="1200"/>
            </a:pPr>
            <a:r>
              <a:t>GOR: cumulative 565 scf/bbl 1966-92 (the source of IFR's 552); anomalies are allocation artefacts plus a local TEC-10 rise at low tubing pressure.</a:t>
            </a:r>
          </a:p>
          <a:p>
            <a:pPr>
              <a:spcAft>
                <a:spcPts val="600"/>
              </a:spcAft>
              <a:defRPr sz="1200"/>
            </a:pPr>
            <a:r>
              <a:t>No per-well data after Nov 2019: sales are commingled (G-32).</a:t>
            </a:r>
          </a:p>
          <a:p>
            <a:pPr>
              <a:spcAft>
                <a:spcPts val="600"/>
              </a:spcAft>
              <a:defRPr sz="1200"/>
            </a:pPr>
            <a:r>
              <a:t>66 runs of missing months in the CNH record cannot be told from shut-ins (G-34).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3. Pressure at one datum: strong aquifer, measurable decline</a:t>
            </a:r>
          </a:p>
        </p:txBody>
      </p:sp>
      <p:pic>
        <p:nvPicPr>
          <p:cNvPr id="3" name="Picture 2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54602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914400"/>
            <a:ext cx="44805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21 surveys 1956-2018 restated at 2,300 mSS; four PEMEX scans read by eye against the transcription.</a:t>
            </a:r>
          </a:p>
          <a:p>
            <a:pPr>
              <a:spcAft>
                <a:spcPts val="600"/>
              </a:spcAft>
              <a:defRPr sz="1200"/>
            </a:pPr>
            <a:r>
              <a:t>Initial 24.65 MPa is a 2 h 45 min reading on a new well; 1964 statics after 75-95 days agree.</a:t>
            </a:r>
          </a:p>
          <a:p>
            <a:pPr>
              <a:spcAft>
                <a:spcPts val="600"/>
              </a:spcAft>
              <a:defRPr sz="1200"/>
            </a:pPr>
            <a:r>
              <a:t>1971 TEC-6: 23.24 to 24.35 MPa between 4 and 74 days shut-in. Short shut-ins understate.</a:t>
            </a:r>
          </a:p>
          <a:p>
            <a:pPr>
              <a:spcAft>
                <a:spcPts val="600"/>
              </a:spcAft>
              <a:defRPr sz="1200"/>
            </a:pPr>
            <a:r>
              <a:t>2018: 24.14-24.16 MPa in three wells after ~2 MMbbl. Expansion alone would supply 11 kbbl.</a:t>
            </a:r>
          </a:p>
          <a:p>
            <a:pPr>
              <a:spcAft>
                <a:spcPts val="600"/>
              </a:spcAft>
              <a:defRPr sz="1200"/>
            </a:pPr>
            <a:r>
              <a:t>Both 2018 build-ups needed a constant-pressure boundary; TEC-10 also a no-flow boundary at 125 m.</a:t>
            </a:r>
          </a:p>
          <a:p>
            <a:pPr>
              <a:spcAft>
                <a:spcPts val="600"/>
              </a:spcAft>
              <a:defRPr sz="1200"/>
            </a:pPr>
            <a:r>
              <a:t>Recommendation 8 of v3 stands: the current shut-in is a free multi-year build-up. Measure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4. TEC-11: 720 m of lateral, metres by facies</a:t>
            </a:r>
          </a:p>
        </p:txBody>
      </p:sp>
      <p:pic>
        <p:nvPicPr>
          <p:cNvPr id="3" name="Picture 2" descr="03_tec11_lateral_fa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464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Carbonate from 2,360 mMD (2,245 mSS); lateral at 2,305-2,331 mSS, 4-12 m below the TEC-6/9 highest perforations.</a:t>
            </a:r>
          </a:p>
          <a:p>
            <a:pPr>
              <a:spcAft>
                <a:spcPts val="600"/>
              </a:spcAft>
              <a:defRPr sz="1200"/>
            </a:pPr>
            <a:r>
              <a:t>Lateral: 419 m mudstone-wackestone, 240 m grainstone-bearing (all mixed textures, compact), 31 m shale, 30 m bentonite.</a:t>
            </a:r>
          </a:p>
          <a:p>
            <a:pPr>
              <a:spcAft>
                <a:spcPts val="600"/>
              </a:spcAft>
              <a:defRPr sz="1200"/>
            </a:pPr>
            <a:r>
              <a:t>One moderate show (2,920-2,945 mMD); no show over 482 of 720 m.</a:t>
            </a:r>
          </a:p>
          <a:p>
            <a:pPr>
              <a:spcAft>
                <a:spcPts val="600"/>
              </a:spcAft>
              <a:defRPr sz="1200"/>
            </a:pPr>
            <a:r>
              <a:t>Facies, not depth. Exploration risk on a step-out, correctly taken and answered.</a:t>
            </a:r>
          </a:p>
          <a:p>
            <a:pPr>
              <a:spcAft>
                <a:spcPts val="600"/>
              </a:spcAft>
              <a:defRPr sz="1200"/>
            </a:pPr>
            <a:r>
              <a:t>Wording: 'wackestone to grainstone, compact', not 'miliolid grainstone' (G-27).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5. Eleven economic models, one basis</a:t>
            </a:r>
          </a:p>
        </p:txBody>
      </p:sp>
      <p:pic>
        <p:nvPicPr>
          <p:cNvPr id="3" name="Picture 2" descr="02_econ_model_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51549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Aug 2020, nine 'Feb 2022' (saved 11 Apr - 21 Jun 2022, suffixes out of order), Sept/Oct 2023.</a:t>
            </a:r>
          </a:p>
          <a:p>
            <a:pPr>
              <a:spcAft>
                <a:spcPts val="600"/>
              </a:spcAft>
              <a:defRPr sz="1200"/>
            </a:pPr>
            <a:r>
              <a:t>TEC-12 curve identical in all: qi 342, b 1.7, 300 bbl/d first month, 401 kbbl.</a:t>
            </a:r>
          </a:p>
          <a:p>
            <a:pPr>
              <a:spcAft>
                <a:spcPts val="600"/>
              </a:spcAft>
              <a:defRPr sz="1200"/>
            </a:pPr>
            <a:r>
              <a:t>What moved: WTI 30/90/GLJ deck/85; PEMEX factor 0.95/0.801/0.90 (unsourced); well count; window placement.</a:t>
            </a:r>
          </a:p>
          <a:p>
            <a:pPr>
              <a:spcAft>
                <a:spcPts val="600"/>
              </a:spcAft>
              <a:defRPr sz="1200"/>
            </a:pPr>
            <a:r>
              <a:t>v6-v9 exclude 3.45 MM of TEC-12/13 capital by placing it before the window.</a:t>
            </a:r>
          </a:p>
          <a:p>
            <a:pPr>
              <a:spcAft>
                <a:spcPts val="600"/>
              </a:spcAft>
              <a:defRPr sz="1200"/>
            </a:pPr>
            <a:r>
              <a:t>2023 workbook descends from the 2020 file and prices TEC-12 as a 1.8 MM TEC-10 re-entry.</a:t>
            </a:r>
          </a:p>
          <a:p>
            <a:pPr>
              <a:spcAft>
                <a:spcPts val="600"/>
              </a:spcAft>
              <a:defRPr sz="1200"/>
            </a:pPr>
            <a:r>
              <a:t>Use the 2023 structure with new capital, price and profile; retire the 2022 series as a reference.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6. Type curve and the TEC-12 range</a:t>
            </a:r>
          </a:p>
        </p:txBody>
      </p:sp>
      <p:pic>
        <p:nvPicPr>
          <p:cNvPr id="3" name="Picture 2" descr="06_type_curve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6145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Four PEMEX wells stacked by month on production reproduce the IFR workbook; the average rises again at months 100-130 and 250-300 as wells were re-perforated.</a:t>
            </a:r>
          </a:p>
          <a:p>
            <a:pPr>
              <a:spcAft>
                <a:spcPts val="600"/>
              </a:spcAft>
              <a:defRPr sz="1200"/>
            </a:pPr>
            <a:r>
              <a:t>TEC-10 (single completion, daily data): 181 bbl/d first full month, 78 at 12 months, ~21 at 45 months; b 0.49; ~104 kbbl.</a:t>
            </a:r>
          </a:p>
          <a:p>
            <a:pPr>
              <a:spcAft>
                <a:spcPts val="600"/>
              </a:spcAft>
              <a:defRPr sz="1200"/>
            </a:pPr>
            <a:r>
              <a:t>GLJ YE2020: 203 / 343 / 502 kbbl; Petrel Robertson 100 bbl/d base, 200 upside; Simmons volumes include TEC-13.</a:t>
            </a:r>
          </a:p>
          <a:p>
            <a:pPr>
              <a:spcAft>
                <a:spcPts val="600"/>
              </a:spcAft>
              <a:defRPr sz="1200"/>
            </a:pPr>
            <a:r>
              <a:t>Recommended: low 100 bbl/d, 65 kbbl; base 180 bbl/d, b 0.9, 218 kbbl; high 300 bbl/d, 366 kbbl.</a:t>
            </a:r>
          </a:p>
          <a:p>
            <a:pPr>
              <a:spcAft>
                <a:spcPts val="600"/>
              </a:spcAft>
              <a:defRPr sz="1200"/>
            </a:pPr>
            <a:r>
              <a:t>The 345 kbbl becomes the P10, requiring a PEMEX-style 30-year life with recompletions.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7. OOIP: 7.8 vs 11.2 is petrophysics</a:t>
            </a:r>
          </a:p>
        </p:txBody>
      </p:sp>
      <p:pic>
        <p:nvPicPr>
          <p:cNvPr id="3" name="Picture 2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26276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7.8 MMbbl = PEMEX/CNH booked volume (3.1 km2). 11.2 = IFR, 630 ac, N/G 0.40, phi 7 %.</a:t>
            </a:r>
          </a:p>
          <a:p>
            <a:pPr>
              <a:spcAft>
                <a:spcPts val="600"/>
              </a:spcAft>
              <a:defRPr sz="1200"/>
            </a:pPr>
            <a:r>
              <a:t>Petrel Robertson geomodel: 7.6 with TEC-2/9 vintage-log petrophysics, 12.0 with TEC-10's logs, same rock volume.</a:t>
            </a:r>
          </a:p>
          <a:p>
            <a:pPr>
              <a:spcAft>
                <a:spcPts val="600"/>
              </a:spcAft>
              <a:defRPr sz="1200"/>
            </a:pPr>
            <a:r>
              <a:t>Monte Carlo P90/P50/P10: 8.1 / 10.0 / 12.2 MMbbl. Porosity and N/G swing +-2.5 MMbbl each.</a:t>
            </a:r>
          </a:p>
          <a:p>
            <a:pPr>
              <a:spcAft>
                <a:spcPts val="600"/>
              </a:spcAft>
              <a:defRPr sz="1200"/>
            </a:pPr>
            <a:r>
              <a:t>Tecolutla holds 2.5 MMbbl/km2 vs a reef-rim median of 8.3; RF to date 25 % (CNH) or 20 % (P50) vs trend 30 %.</a:t>
            </a:r>
          </a:p>
          <a:p>
            <a:pPr>
              <a:spcAft>
                <a:spcPts val="600"/>
              </a:spcAft>
              <a:defRPr sz="1200"/>
            </a:pPr>
            <a:r>
              <a:t>Remaining at 29 %: 0.3 (CNH) / 0.9 (P50) / 1.3 (IFR) MMbbl. TEC-12's logs are the appraisal of this 4 MMbbl spread.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8. Logs on one datum: GR polarity and the target window</a:t>
            </a:r>
          </a:p>
        </p:txBody>
      </p:sp>
      <p:pic>
        <p:nvPicPr>
          <p:cNvPr id="3" name="Picture 2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6468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0" y="914400"/>
            <a:ext cx="356616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GR rises with porosity in every well (Spearman +0.28 to +0.49): clean GR = tight miliolid facies.</a:t>
            </a:r>
          </a:p>
          <a:p>
            <a:pPr>
              <a:spcAft>
                <a:spcPts val="600"/>
              </a:spcAft>
              <a:defRPr sz="1200"/>
            </a:pPr>
            <a:r>
              <a:t>Produced intervals: TEC-6 2,308-2,332, TEC-9 2,323-2,328, TEC-2 2,303-2,307, TEC-10 2,314-2,318 mSS.</a:t>
            </a:r>
          </a:p>
          <a:p>
            <a:pPr>
              <a:spcAft>
                <a:spcPts val="600"/>
              </a:spcAft>
              <a:defRPr sz="1200"/>
            </a:pPr>
            <a:r>
              <a:t>Target window 2,294-2,311 mSS: TEC-10 phi 9-11 %, ILD 4-5 ohm.m, N-D separation, PE 3.8, Archie Sw ~1; TEC-9 ILD 3-5 ohm.m.</a:t>
            </a:r>
          </a:p>
          <a:p>
            <a:pPr>
              <a:spcAft>
                <a:spcPts val="600"/>
              </a:spcAft>
              <a:defRPr sz="1200"/>
            </a:pPr>
            <a:r>
              <a:t>Resistivity rises to 15-50 ohm.m below ~2,310 mSS in both wells; Tonalli did not perforate the upper zone after logging it.</a:t>
            </a:r>
          </a:p>
          <a:p>
            <a:pPr>
              <a:spcAft>
                <a:spcPts val="600"/>
              </a:spcAft>
              <a:defRPr sz="1200"/>
            </a:pPr>
            <a:r>
              <a:t>Free water or clay-bound water in an argillaceous carbonate: the logs alone cannot say. Core-calibrated evaluation of TEC-10 before sanction (G-47).</a:t>
            </a:r>
          </a:p>
          <a:p>
            <a:pPr>
              <a:spcAft>
                <a:spcPts val="600"/>
              </a:spcAft>
              <a:defRPr sz="1200"/>
            </a:pPr>
            <a:r>
              <a:t>TEC-10 top perf is 2,314 mSS on the survey vs 2,311.5 in the summary sheet (G-46).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9. AFE: USD 1,572,724, priced on 2018 rates</a:t>
            </a:r>
          </a:p>
        </p:txBody>
      </p:sp>
      <p:pic>
        <p:nvPicPr>
          <p:cNvPr id="3" name="Picture 2" descr="08_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680960" cy="31627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914400"/>
            <a:ext cx="374903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Sep 2021 copy shows 1,567,724 because the SUB formula on Drilling Pad Maintenance (5,000) was deleted; daily totals still include it.</a:t>
            </a:r>
          </a:p>
          <a:p>
            <a:pPr>
              <a:spcAft>
                <a:spcPts val="600"/>
              </a:spcAft>
              <a:defRPr sz="1200"/>
            </a:pPr>
            <a:r>
              <a:t>Rig and move 27 %, tubulars and wellhead 23 %, mud and disposal 18 %; day rates identical to the TEC-11 Dec-2018 tracker.</a:t>
            </a:r>
          </a:p>
          <a:p>
            <a:pPr>
              <a:spcAft>
                <a:spcPts val="600"/>
              </a:spcAft>
              <a:defRPr sz="1200"/>
            </a:pPr>
            <a:r>
              <a:t>No contingency, no production casing, no owner's costs. TEC-11 came in +12 % over budget.</a:t>
            </a:r>
          </a:p>
          <a:p>
            <a:pPr>
              <a:spcAft>
                <a:spcPts val="600"/>
              </a:spcAft>
              <a:defRPr sz="1200"/>
            </a:pPr>
            <a:r>
              <a:t>Currency USD by evidence (Tonalli cost format 'Dolares', models in US$); author to confirm (G-44).</a:t>
            </a:r>
          </a:p>
          <a:p>
            <a:pPr>
              <a:spcAft>
                <a:spcPts val="600"/>
              </a:spcAft>
              <a:defRPr sz="1200"/>
            </a:pPr>
            <a:r>
              <a:t>Escalated to Sep 2026 (assumed x1.15 / 1.25 / 1.40; index blocked, G-45): USD 1.81 / 1.97 / 2.20 MM = CAD 2.52 / 2.74 / 3.06 MM at 1.3915.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10. Economics rebuilt on the 2023 structure</a:t>
            </a:r>
          </a:p>
        </p:txBody>
      </p:sp>
      <p:pic>
        <p:nvPicPr>
          <p:cNvPr id="3" name="Picture 2" descr="10_econ_re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498079" cy="30460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914400"/>
            <a:ext cx="39319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/>
            </a:pPr>
            <a:r>
              <a:t>Fiscal and cost terms from the 2023 workbook; base profile; escalated base AFE; water cut following TEC-10; start Jan 2027; 100 % WI; no G&amp;A, no carry.</a:t>
            </a:r>
          </a:p>
          <a:p>
            <a:pPr>
              <a:spcAft>
                <a:spcPts val="600"/>
              </a:spcAft>
              <a:defRPr sz="1200"/>
            </a:pPr>
            <a:r>
              <a:t>Stand-alone NPV10 BTAX at WTI 60/70/80: base -0.62 / -0.09 / +0.46 MM; high +0.03 / +0.77 / +1.53; low never positive.</a:t>
            </a:r>
          </a:p>
          <a:p>
            <a:pPr>
              <a:spcAft>
                <a:spcPts val="600"/>
              </a:spcAft>
              <a:defRPr sz="1200"/>
            </a:pPr>
            <a:r>
              <a:t>Incremental to a producing TEC-10 (battery and disposal already carried): base +0.06 / +0.76 / +1.41 MM, payout &lt; 2 years at WTI 70.</a:t>
            </a:r>
          </a:p>
          <a:p>
            <a:pPr>
              <a:spcAft>
                <a:spcPts val="600"/>
              </a:spcAft>
              <a:defRPr sz="1200"/>
            </a:pPr>
            <a:r>
              <a:t>Royalty burden 42-44 % of revenue; fixed costs end the stand-alone base case at 69 months with 142 of 218 kbbl produced.</a:t>
            </a:r>
          </a:p>
          <a:p>
            <a:pPr>
              <a:spcAft>
                <a:spcPts val="600"/>
              </a:spcAft>
              <a:defRPr sz="1200"/>
            </a:pPr>
            <a:r>
              <a:t>WTI ~USD 100 in mid-Sep 2026 on a supply disruption; long-term decks 70-80. 2025 fiscal reform not reviewed (G-49).</a:t>
            </a:r>
          </a:p>
          <a:p>
            <a:pPr>
              <a:spcAft>
                <a:spcPts val="600"/>
              </a:spcAft>
              <a:defRPr sz="1200"/>
            </a:pPr>
            <a:r>
              <a:t>v3's overhead finding stands: the well works for an operator that already carries the field, not for a single-asset company.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11. Decisions and the gap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Before sanction: (1) core-calibrated petrophysics of TEC-10's upper zone (G-47); (2) static gradient on TEC-10 after the multi-year shut-in; (3) confirm AFE currency and re-index escalation (G-44, G-45); (4) pull the ten large files (G-13).</a:t>
            </a:r>
          </a:p>
          <a:p>
            <a:pPr>
              <a:spcAft>
                <a:spcPts val="600"/>
              </a:spcAft>
              <a:defRPr sz="1400"/>
            </a:pPr>
            <a:r>
              <a:t>If the window is water: move the target to 2,311-2,332 mSS (the produced interval in every well) and re-run the base case.</a:t>
            </a:r>
          </a:p>
          <a:p>
            <a:pPr>
              <a:spcAft>
                <a:spcPts val="600"/>
              </a:spcAft>
              <a:defRPr sz="1400"/>
            </a:pPr>
            <a:r>
              <a:t>Quote volumes as: recorded 1.72 MMbbl; OOIP 8-10-12; TEC-12 65/218/366 kbbl; AFE USD 1.57 MM (2020) / ~2.0 MM (2026).</a:t>
            </a:r>
          </a:p>
          <a:p>
            <a:pPr>
              <a:spcAft>
                <a:spcPts val="600"/>
              </a:spcAft>
              <a:defRPr sz="1400"/>
            </a:pPr>
            <a:r>
              <a:t>Wording fixes for any external document: CMI not FMI; 'wackestone to grainstone, compact'; 'within 2 % of initial pressure'; Simmons volumes are two wells.</a:t>
            </a:r>
          </a:p>
          <a:p>
            <a:pPr>
              <a:spcAft>
                <a:spcPts val="600"/>
              </a:spcAft>
              <a:defRPr sz="1400"/>
            </a:pPr>
            <a:r>
              <a:t>50 gaps logged in docs/gaps.md with status; 18 remain open. Kevin: drive credentials for the ten large files (G-13), the Aug-2025 re-saves (G-03), which well the 2023 model priced (G-17), AFE currency (G-44), CNH polygon (G-43).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