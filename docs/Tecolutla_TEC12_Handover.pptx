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mSS: water at TEC-10 on core-supported porosity (Sw &gt;= 1.1, no open fractures); at parity with the 353-kbbl producer at TEC-9 on an uncorrected 1973 sonic. Every barrel produced came from 2,303-2,332 mSS. Log and test the window at TEC-12 before completing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New sources read in the second pass: CNH polygon, CMI fractures</a:t>
            </a:r>
          </a:p>
        </p:txBody>
      </p:sp>
      <p:pic>
        <p:nvPicPr>
          <p:cNvPr id="3" name="Picture 2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0350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91440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Ten large Drive files read through the connector's text rendering (Work Program, GLJ detail, core report, mud logs, gauge data): docs/12.</a:t>
            </a:r>
          </a:p>
          <a:p>
            <a:pPr>
              <a:spcAft>
                <a:spcPts val="600"/>
              </a:spcAft>
              <a:defRPr sz="1200"/>
            </a:pPr>
            <a:r>
              <a:t>CNH field polygon (2015 data room): 3.14 km2, all nine wells inside; IFR's 630 ac = 2.55 km2 is 81 % of it. An administrative outline, the upper bound of the OOIP range (G-43 closed).</a:t>
            </a:r>
          </a:p>
          <a:p>
            <a:pPr>
              <a:spcAft>
                <a:spcPts val="600"/>
              </a:spcAft>
              <a:defRPr sz="1200"/>
            </a:pPr>
            <a:r>
              <a:t>CNH forecast tables filed for 2021 and 2022 carry the IFR 2020 TEC-12 curve (300 bbl/d first month), not 500 kbbl (G-22 closed).</a:t>
            </a:r>
          </a:p>
          <a:p>
            <a:pPr>
              <a:spcAft>
                <a:spcPts val="600"/>
              </a:spcAft>
              <a:defRPr sz="1200"/>
            </a:pPr>
            <a:r>
              <a:t>CNH annual filings: 16.1 kbbl (2020, both wells, Apr-Jun shut in), 17.4 kbbl (2021, TEC-10 only, GOR 859 scf/bbl, 29.3 API); field shut in from Jul 2022, restarted late Nov 2022 on TEC-10.</a:t>
            </a:r>
          </a:p>
          <a:p>
            <a:pPr>
              <a:spcAft>
                <a:spcPts val="600"/>
              </a:spcAft>
              <a:defRPr sz="1200"/>
            </a:pPr>
            <a:r>
              <a:t>TEC-10 core (only rock data): recrystallised grainstone, 2-8 % porosity, 0.01-0.5 mD at stress, 14-59 % PV residual oil; no electrical properties.</a:t>
            </a:r>
          </a:p>
          <a:p>
            <a:pPr>
              <a:spcAft>
                <a:spcPts val="600"/>
              </a:spcAft>
              <a:defRPr sz="1200"/>
            </a:pPr>
            <a:r>
              <a:t>CMI (right): no open fracture in the TEC-12 window or the perforated 10 m; open fractures start below 2,320 mSS in the produced, water-bearing interval. TEC-10 is matrix flow (G-09 closed).</a:t>
            </a:r>
          </a:p>
          <a:p>
            <a:pPr>
              <a:spcAft>
                <a:spcPts val="600"/>
              </a:spcAft>
              <a:defRPr sz="1200"/>
            </a:pPr>
            <a:r>
              <a:t>Sw sensitivity (72 cases, anchored to the aquifer and the producing interval): the window is water at TEC-10 on the core-supported density porosity, Sw &gt;= 1.1 vs 0.6-1.0 in the perforations; N-D crossover flips sign at 2,311 mSS. At TEC-9 (118 m from TEC-12) the 1973 sonic puts the window at parity with the 353-kbbl producer unless 20 %+ of its porosity is shale effect. Base case on 2,311-2,332 mSS; log and test the window at TEC-12 before completing (docs/14).</a:t>
            </a:r>
          </a:p>
          <a:p>
            <a:pPr>
              <a:spcAft>
                <a:spcPts val="600"/>
              </a:spcAft>
              <a:defRPr sz="1200"/>
            </a:pPr>
            <a:r>
              <a:t>2025 reform: contract fiscal terms preserved per secondary sources; regulator now CNE; contract-to-assignment substitution clause to be checked by counsel (G-49).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12.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15 remain open. Kevin: the Aug-2025 re-saves (G-03), which well the 2023 model priced (G-17), AFE currency (G-44),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