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a technical walk-through of the field, the 2018-19 programme and the remaining opportunity (TEC-12), with the data behind each statement. Every slide's notes list the questions we expect and the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How big is it really?</a:t>
            </a:r>
          </a:p>
          <a:p>
            <a:r>
              <a:t>A: Small: 2.5-3.1 km², OOIP 7.8-11.2 MMbbl, ~2 MMbbl produced. Remaining recoverable 0.3-1.6 MMbbl, most likely ~0.9 MMbbl at the reef-rim trend recovery (docs/07_volumetrics.md).</a:t>
            </a:r>
          </a:p>
          <a:p/>
          <a:p>
            <a:r>
              <a:t>Q: Who has interests?</a:t>
            </a:r>
          </a:p>
          <a:p>
            <a:r>
              <a:t>A: Tonalli Energía operates the licence; IFR/Petro Frontera and Jaguar (from Aug 2022) are the partners. Confirm current equity before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What is the seal and source?</a:t>
            </a:r>
          </a:p>
          <a:p>
            <a:r>
              <a:t>A: No project document names them. Regionally the seal is the Tertiary shale over the unconformity (Tantoyuca/Chicontepec) and the source is Upper Jurassic. Cite as regional literature, not field data.</a:t>
            </a:r>
          </a:p>
          <a:p/>
          <a:p>
            <a:r>
              <a:t>Q: Why is it so much poorer than the Golden Lane giants?</a:t>
            </a:r>
          </a:p>
          <a:p>
            <a:r>
              <a:t>A: Lower porosity and net-to-gross in the recrystallised miliolid facies (2-11 % porosity, matrix 0.04-1.2 mD on core); it is a small culmination of 10-25 m relief. Volumes are set by porosity and N/G, not area (task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How reliable is the depth map?</a:t>
            </a:r>
          </a:p>
          <a:p>
            <a:r>
              <a:t>A: PEMEX 3D reprocessed by Earth Signal (PSTM, 2017-18) and DMI (PSDM, 2018), interpreted in Petrel and tied to MH-412. The Jan 2019 grid honours all eight vertical-well tops within 2.1 m (data/processed/seismic/el_abra_grid_ties.csv). The PSDM volume (710 MB) and the Petrel project are on the data room drive but have not been opened by us; the gathers, angle stacks and velocity models are not in the data room (G-55). TEC-10 came in a few metres low against prognosis.</a:t>
            </a:r>
          </a:p>
          <a:p/>
          <a:p>
            <a:r>
              <a:t>Q: What about the northern culmination?</a:t>
            </a:r>
          </a:p>
          <a:p>
            <a:r>
              <a:t>A: It is on the Jan 2019 grid at -2,284 mSS but the PEMEX PSTM puts it 20-40 ms (roughly 30-60 m) below TEC-12; it appears to follow the PSDM reflector, which does not track the El Abra top (G-75, G-79). Not a target until re-mapped.</a:t>
            </a:r>
          </a:p>
          <a:p/>
          <a:p>
            <a:r>
              <a:t>Q: Where is the oil-water contact?</a:t>
            </a:r>
          </a:p>
          <a:p>
            <a:r>
              <a:t>A: Not one flat number. Original FWL 2,380 mTVDss (2019 operator deck); PEMEX 1956 oil-salt-water ~2,373 and GLJ lowest known oil 2,374.2, both from the TEC-3 DST (980 m of 24 °API oil and 80 m of salt water); a possible current FWL ~2,316 (2019 deck); 'water at 2,350 m' (2017 plan); wet TEC-2 perforations at 2,331-2,345 mSS. Production history shows coning around producers (slide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So which seismic do you trust?</a:t>
            </a:r>
          </a:p>
          <a:p>
            <a:r>
              <a:t>A: For structure at the El Abra top, the PEMEX PSTM: it ties the wells and needs only a smooth well-velocity field. The PSDM is not wrong as data, but its strongest reflector is not the El Abra top (docs/20_seismic.md, G-79).</a:t>
            </a:r>
          </a:p>
          <a:p/>
          <a:p>
            <a:r>
              <a:t>Q: Can the seismic tell you whether the window is reservoir?</a:t>
            </a:r>
          </a:p>
          <a:p>
            <a:r>
              <a:t>A: No. Its dominant wavelength is ~67 m; whether El Abra starts at the top of the carbonate package (as at TEC-9) or ~20 m lower (as at TEC-10) is below resolution. That is what TEC-12's logs and test decide.</a:t>
            </a:r>
          </a:p>
          <a:p/>
          <a:p>
            <a:r>
              <a:t>Q: What is still missing?</a:t>
            </a:r>
          </a:p>
          <a:p>
            <a:r>
              <a:t>A: The Earth Signal PSTM, DMI gathers, angle stacks and velocity model (G-55). The volumes we read are the DMI PSDM stack and the PEMEX PSTM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Is there a PVT?</a:t>
            </a:r>
          </a:p>
          <a:p>
            <a:r>
              <a:t>A: No measured PVT (bubble point, Rs, Bo). A bottom-hole or recombined sample should be part of TEC-12. GLJ uses GOR 900 scf/bbl; measured 565-860; GLJ's own statistics give 1,265-8,162 (G-31).</a:t>
            </a:r>
          </a:p>
          <a:p/>
          <a:p>
            <a:r>
              <a:t>Q: Matrix permeability is sub-millidarcy - how does it flow?</a:t>
            </a:r>
          </a:p>
          <a:p>
            <a:r>
              <a:t>A: Through fractures and vugs. The TEC-10 build-up gives 18 mD effective; the image log shows up to 7 fractures/m. That is also why water moves fast along fractures and the wells cone.</a:t>
            </a:r>
          </a:p>
          <a:p/>
          <a:p>
            <a:r>
              <a:t>Q: H2S handling?</a:t>
            </a:r>
          </a:p>
          <a:p>
            <a:r>
              <a:t>A: Sour service: separator gas 0.7-1.7 mol % H2S. Gas is flared under the evaluation-period approval; H2S detection and SCBA are in the SASISOPA.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How confident is the pressure data?</a:t>
            </a:r>
          </a:p>
          <a:p>
            <a:r>
              <a:t>A: 18 PEMEX survey forms were OCR'd and checked against IFR's transcription (15 of 16 agree to the last digit), plus the 2018 Tonalli gradient and two IHS build-ups. All corrected to 2,300 mSS at 10.5 kPa/m (docs/05_pressure.md).</a:t>
            </a:r>
          </a:p>
          <a:p/>
          <a:p>
            <a:r>
              <a:t>Q: Could it be a gas cap and not an aquifer?</a:t>
            </a:r>
          </a:p>
          <a:p>
            <a:r>
              <a:t>A: No: pressure maintenance with rising water cut in every well is aquifer behaviour. There was a small gas cap at the crest in 1956 (TEC-2 top test, GOR ~6,500 scf/bbl), which is a separate point for TEC-12 (slide 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Why the gaps in the record?</a:t>
            </a:r>
          </a:p>
          <a:p>
            <a:r>
              <a:t>A: They are reported zero-production months. The original CNH CD tables carry 781 explicit zero rows that fill all 66 gap runs; an intermediate copy had dropped them (G-34 closed). The PEMEX well files give the reasons, e.g. TEC-2/TEC-7 shut in for salt water 1957-71.</a:t>
            </a:r>
          </a:p>
          <a:p/>
          <a:p>
            <a:r>
              <a:t>Q: What is the Tonalli-era per-well split after 2019?</a:t>
            </a:r>
          </a:p>
          <a:p>
            <a:r>
              <a:t>A: Field sales 2020-22 are commingled tickets (~90 % TEC-10 by the 2021 CNH filing). Per-well CNH formats exist only for Nov 2022 in our package (G-32).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Is the 'oil deeper than last produced' claim fair given TEC-9?</a:t>
            </a:r>
          </a:p>
          <a:p>
            <a:r>
              <a:t>A: Yes against TEC-2 and TEC-7, which were last producing from 2,303-2,308 mSS. TEC-9 produced deeper (2,323-2,328) until 2012. The point is that the oil column is still there between the old producers, not that oil is deeper than anything produced.</a:t>
            </a:r>
          </a:p>
          <a:p/>
          <a:p>
            <a:r>
              <a:t>Q: TEC-7 tested 100 % water at 2,305-2,308 in 2019 - doesn't that say the top is wet?</a:t>
            </a:r>
          </a:p>
          <a:p>
            <a:r>
              <a:t>A: Tonalli suspected bad cement or a leaking plug giving access to the lower perforations (Sep 2022 review). TEC-2, 1-7 m below its top, still makes oil at 72-90 % water cut. Both are flank-side of the crest.</a:t>
            </a:r>
          </a:p>
          <a:p/>
          <a:p>
            <a:r>
              <a:t>Q: Sources?</a:t>
            </a:r>
          </a:p>
          <a:p>
            <a:r>
              <a:t>A: docs/09_log_panel.md §3 (one datum); perforations CSV; PEMEX expedientes; Tonalli operations log; GLJ/XS top picks.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Why didn't TEC-10's deeper zones flow?</a:t>
            </a:r>
          </a:p>
          <a:p>
            <a:r>
              <a:t>A: Zone A (2,433-2,442 mMD) gave no inflow after acid; the 2018 injectivity test needed 2,120 psi. Zone B (2,394.5-2,413.5 mMD) gave weak water inflow: 16.9 m³ back against 19.6 m³ injected, inconclusive. Both isolated below a bridge plug at 2,382 m. Zone C had 140 ppm H2S.</a:t>
            </a:r>
          </a:p>
          <a:p/>
          <a:p>
            <a:r>
              <a:t>Q: What did the programme cost?</a:t>
            </a:r>
          </a:p>
          <a:p>
            <a:r>
              <a:t>A: Drilling to rig release: TEC-10 USD 2.04 MM against a 2.92 MM AFE; TEC-11 USD 3.03 MM against 2.25 MM. All-in tax pools: TEC-10 2.96 MM, TEC-11 3.51 MM (4.40 MM in the cost summary; ~0.96 MM of Workstrings invoices of unknown status, G-64), TEC-2 0.86 MM, TEC-7 0.17 MM.</a:t>
            </a:r>
          </a:p>
          <a:p/>
          <a:p>
            <a:r>
              <a:t>Q: Sources</a:t>
            </a:r>
          </a:p>
          <a:p>
            <a:r>
              <a:t>A: Activities performed in Tecolutla.xlsx (Tonalli operations log); Tecolutla Discussion with Jaguar, 1 Sep 2022; TEC-10/TEC-11 cost trackers.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Why only 3.5 m perforated?</a:t>
            </a:r>
          </a:p>
          <a:p>
            <a:r>
              <a:t>A: Tonalli perforated the high-resistivity interval directly below the El Abra top; the low-resistivity zone above is the Tantoyuca (XRD, RockWise 2018), not reservoir. IFR's TEC-10 evaluation gives 5.8 m TVD net pay, all at 2,314-2,332 mSS (third-party, parameters unknown).</a:t>
            </a:r>
          </a:p>
          <a:p/>
          <a:p>
            <a:r>
              <a:t>Q: What was the decline?</a:t>
            </a:r>
          </a:p>
          <a:p>
            <a:r>
              <a:t>A: Hyperbolic fit qi 152 bbl/d, Di 0.79/yr, b ≈ 0.49 on 15 months of daily data plus 2020-22 sales (docs/06_forecast.md).</a:t>
            </a:r>
          </a:p>
          <a:p/>
          <a:p>
            <a:r>
              <a:t>Q: Why is it shut in?</a:t>
            </a:r>
          </a:p>
          <a:p>
            <a:r>
              <a:t>A: Shut in Feb 2022 (rate and cash), restarted Nov 2022 on TEC-10 alone; last production Jan 2023. GLJ cites an environmental permit; the CNH filings give July 2022 (G-65). GLJ carries it as PDNP with a 15 k$ paraffin workover.</a:t>
            </a:r>
          </a:p>
          <a:p/>
          <a:p>
            <a:r>
              <a:t>Q: Was 131 bbl/d at 49 % in Sep 2018?</a:t>
            </a:r>
          </a:p>
          <a:p>
            <a:r>
              <a:t>A: No: that rate falls on 19-21 Jan 2019 in the daily data; Sep 2018 averaged 101 bbl/d at 63 % during clean-up (G-78).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What is APSOL-AP?</a:t>
            </a:r>
          </a:p>
          <a:p>
            <a:r>
              <a:t>A: Química Apollo's aromatic organic system (Kevin: confirm the composition, usually xylene-based, before calling it xylene).</a:t>
            </a:r>
          </a:p>
          <a:p/>
          <a:p>
            <a:r>
              <a:t>Q: Is there evidence the solvent jobs work?</a:t>
            </a:r>
          </a:p>
          <a:p>
            <a:r>
              <a:t>A: Operating experience: rate and oil cut recovered after jobs. The daily data for 2019 are in the TEC-10 daily file (data/processed/tecolutla_tec10_daily.csv) if a before/after plot is requested.</a:t>
            </a:r>
          </a:p>
          <a:p/>
          <a:p>
            <a:r>
              <a:t>Q: Is the TEC-2 cycling documented?</a:t>
            </a:r>
          </a:p>
          <a:p>
            <a:r>
              <a:t>A: The 2018-2020 tests and rates are documented; the on/off schedule is operating practice, not a separate dataset. Per-well volumes after Nov 2019 are commingled (G-32).</a:t>
            </a:r>
          </a:p>
          <a:p/>
          <a:p>
            <a:r>
              <a:t>Q: How much water can TEC-7 take?</a:t>
            </a:r>
          </a:p>
          <a:p>
            <a:r>
              <a:t>A: No long-term injection log is in our package (G-57). The 2019 stimulation job pumped 0.5-1 bbl/min at 250-440 psi surface pressure; the 2020-21 ASEA compliance reports confirm continuous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Does TEC-11 condemn the top-of-zone idea?</a:t>
            </a:r>
          </a:p>
          <a:p>
            <a:r>
              <a:t>A: No. The lateral sat 4-12 m below the crest in tight mudstone facies on the north-west plunge, the open hole was never tested, and the water came through liner perforations after an unisolated acid job. Its El Abra pick is itself disputed: 2,611.8 mMD in the tops table vs carbonate from 2,360 mMD on the mud log (G-75). The recorded sonic over the lateral reads ~73 us/ft, like the Tantoyuca marl at TEC-10 (71) rather than El Abra (52-57), and the grid puts the lateral 4-10 m above the El Abra top: it may never have entered the reservoir.</a:t>
            </a:r>
          </a:p>
          <a:p/>
          <a:p>
            <a:r>
              <a:t>Q: What did it cost?</a:t>
            </a:r>
          </a:p>
          <a:p>
            <a:r>
              <a:t>A: USD 3.03 MM to rig release against a 2.25 MM AFE.</a:t>
            </a:r>
          </a:p>
          <a:p/>
          <a:p>
            <a:r>
              <a:t>Q: Source</a:t>
            </a:r>
          </a:p>
          <a:p>
            <a:r>
              <a:t>A: docs/03_tec11_facies.md; Rise Energy mud log; Tonalli operations log; Sep 2022 Jaguar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Are these audited numbers?</a:t>
            </a:r>
          </a:p>
          <a:p>
            <a:r>
              <a:t>A: 2018-19 are monthly management actuals; Sep 2020 is a cost sheet; 2020-23 are the field lease operating statements, which match the PEMEX settlements (exact for 2020-21, within 0.6 % for 2022). Annual field opex 291 k / 839 k / 336 k / 349 k / 168 k / 627 k USD for 2018-23 (acc_findings.md).</a:t>
            </a:r>
          </a:p>
          <a:p/>
          <a:p>
            <a:r>
              <a:t>Q: Why did 2023 cost 627 k with almost no production?</a:t>
            </a:r>
          </a:p>
          <a:p>
            <a:r>
              <a:t>A: No breakdown in the data room (G-70); likely environmental compliance and standby crew. 2024-25 holding opex was 289 k and 248 k USD with no sales. Ask Tonalli.</a:t>
            </a:r>
          </a:p>
          <a:p/>
          <a:p>
            <a:r>
              <a:t>Q: What is the all-in cost?</a:t>
            </a:r>
          </a:p>
          <a:p>
            <a:r>
              <a:t>A: Field opex excludes G&amp;A (USD 674 k in 2019; corporate administration USD 39 k/month in the 2022 CNH report) and area charges (USD 1.1-1.4 k/month in 2018-22; about 5.2 k/month as paid in 2024-25, G-60).</a:t>
            </a:r>
          </a:p>
          <a:p/>
          <a:p>
            <a:r>
              <a:t>Q: What opex does the TEC-12 case assume?</a:t>
            </a:r>
          </a:p>
          <a:p>
            <a:r>
              <a:t>A: 7.25 USD/bbl oil + 3.25 USD/bbl water + 2,500 USD/well/month + 10 k battery + 1.5 k disposal per month (2023 model terms), consistent with the 2020 run-rate.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Where do the TEC-2/TEC-3 casing data come from?</a:t>
            </a:r>
          </a:p>
          <a:p>
            <a:r>
              <a:t>A: PEMEX 1956 weekly drilling reports and the 2017 CNH clause-3.3 well-integrity forms (G-54 closed).</a:t>
            </a:r>
          </a:p>
          <a:p/>
          <a:p>
            <a:r>
              <a:t>Q: Liabilities?</a:t>
            </a:r>
          </a:p>
          <a:p>
            <a:r>
              <a:t>A: TEC-6 casing parted at 352 m with gas at surface before its 2007 abandonment (anti-collision and shallow-integrity check for TEC-12, G-63); TEC-9 wellhead (flagged as a hazard); TEC-11 composite plug only; the four-well abandonment reserve.</a:t>
            </a:r>
          </a:p>
          <a:p/>
          <a:p>
            <a:r>
              <a:t>Q: What changed in the casing register?</a:t>
            </a:r>
          </a:p>
          <a:p>
            <a:r>
              <a:t>A: TEC-3 surface shoe is 601.7 m (not 501.35, which is TEC-5's); TEC-6 and TEC-9 now show their PEMEX abandonment states; TEC-11 its final state (database review, docs/19).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Why such a range in OOIP?</a:t>
            </a:r>
          </a:p>
          <a:p>
            <a:r>
              <a:t>A: Same area; the difference is net pay and porosity (old PEMEX logs vs 2018 modern logs). Petrel Robertson's model gives either depending on which logs are used.</a:t>
            </a:r>
          </a:p>
          <a:p/>
          <a:p>
            <a:r>
              <a:t>Q: Reserves status?</a:t>
            </a:r>
          </a:p>
          <a:p>
            <a:r>
              <a:t>A: GLJ YE2025 (report 25269, for Kinjal Gas, 100 %): 348 / 903 / 1,383 kbbl, NPV10 BT 2.87 / 8.11 / 12.11 MM USD on the Jan-2026 deck; TEC-12 in Jul 2028 at 1.9 MM. GLJ volumes have moved by 1-2 % a year since YE2022 and its TEC-12 type well has not changed since YE2019. YE2019 had no proved undeveloped after TEC-11; TEC-12 became proved at YE2020 as a directional well.</a:t>
            </a:r>
          </a:p>
          <a:p/>
          <a:p>
            <a:r>
              <a:t>Q: GLJ says 400 kbbl for TEC-12 and you say 218 - why?</a:t>
            </a:r>
          </a:p>
          <a:p>
            <a:r>
              <a:t>A: Our base is calibrated on TEC-10's own decline. GLJ still carries TEC-10 at 300 kbbl 2P against 77 kbbl produced to end-2022.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Why is TEC-12 better than re-perforating TEC-6 or TEC-9?</a:t>
            </a:r>
          </a:p>
          <a:p>
            <a:r>
              <a:t>A: TEC-6 is plugged (bridge plug at 2,297 mSS, 2006) and TEC-9's wellhead is in poor condition; neither has modern logs. A new well gives modern logs, a sample and a clean completion at the crest.</a:t>
            </a:r>
          </a:p>
          <a:p/>
          <a:p>
            <a:r>
              <a:t>Q: How big is the attic?</a:t>
            </a:r>
          </a:p>
          <a:p>
            <a:r>
              <a:t>A: Not separately mapped. On the Jan 2019 grid the area above -2,303 mSS on the southern high is small; GLJ books TEC-12 at 250 / 399 / 578 kbbl EUR from the whole column at the crest. Treat the attic as upside, the produced interval as the base.</a:t>
            </a:r>
          </a:p>
          <a:p/>
          <a:p>
            <a:r>
              <a:t>Q: Source</a:t>
            </a:r>
          </a:p>
          <a:p>
            <a:r>
              <a:t>A: docs/09_log_panel.md §3; GLJ YE2019 top picks; TEC-12 drilling programme (Prog12 p.7-8, 27); docs/08_afe.md.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Your own logs at TEC-10 say the upper zone is wet. Why drill for it?</a:t>
            </a:r>
          </a:p>
          <a:p>
            <a:r>
              <a:t>A: At TEC-10 the window depths are entirely Tantoyuca on the cuttings XRD (El Abra from 2,348 mMD, -2,312.9 mSS), so they say nothing about the El Abra at the crest. TEC-101 shows the same low-resistivity signature above its El Abra top at -2,334. At TEC-9 and at the TEC-12 location the El Abra top is ~2,290-2,296 mSS; TEC-9's top 8 m is porous and at parity with its 353-kbbl producer, and PEMEX cemented it without perforating. TEC-12 settles it with modern logs and a sample before any perforation.</a:t>
            </a:r>
          </a:p>
          <a:p/>
          <a:p>
            <a:r>
              <a:t>Q: Is there any direct evidence the top El Abra unit holds oil?</a:t>
            </a:r>
          </a:p>
          <a:p>
            <a:r>
              <a:t>A: Yes, in original conditions: PEMEX's 1957 E-log analysis of TEC-7 gives Sw 0.13 and porosity 0.17 over the top 7 m of El Abra (about -2,305 to -2,312 mSS), before that interval was produced (1971-2006). At TEC-9 the same top unit has sonic porosity ~15 %. Current saturation at the crest is what TEC-12 measures.</a:t>
            </a:r>
          </a:p>
          <a:p/>
          <a:p>
            <a:r>
              <a:t>Q: Isn't the window a transition zone?</a:t>
            </a:r>
          </a:p>
          <a:p>
            <a:r>
              <a:t>A: Possibly: Tonalli's July 2019 deck offered that as one reading (FWL risen from 2,380 to ~2,316 mTVDss), the other being water up fractures. That is why TEC-12 carries pressures and a sample, and why the fallback is the 2,311-2,332 mSS interval.</a:t>
            </a:r>
          </a:p>
          <a:p/>
          <a:p>
            <a:r>
              <a:t>Q: What if the sonic porosity at TEC-9 is overstated by shale?</a:t>
            </a:r>
          </a:p>
          <a:p>
            <a:r>
              <a:t>A: With a 20 % shale correction the window's Sw is 1.1-1.3 times the producer's; with 40 %, 1.5-1.6 times. That is why the plan includes PE and density-neutron to measure clay, and a pressure/sample test.</a:t>
            </a:r>
          </a:p>
          <a:p/>
          <a:p>
            <a:r>
              <a:t>Q: Is the crest gas?</a:t>
            </a:r>
          </a:p>
          <a:p>
            <a:r>
              <a:t>A: There was gas at the top of TEC-2 in 1956 (open-hole test 2,303-2,318 mSS: 41 m³/d oil, 47,702 m³/d gas) and PEMEX marked a gas-oil level at ~2,315 mSS in 1971. Field GOR stayed 400-1,100 scf/bbl through decades of crestal production, so any remaining cap is small. Logs (neutron-density crossover) and the fluid sample will show it.</a:t>
            </a:r>
          </a:p>
          <a:p/>
          <a:p>
            <a:r>
              <a:t>Q: Sources</a:t>
            </a:r>
          </a:p>
          <a:p>
            <a:r>
              <a:t>A: docs/09_log_panel.md §4; docs/14_sw_sensitivity.md §2, §5; TEC-10 masterlog; PEMEX TEC-2 drilling reports (1956) and 1971 schematic; G-47.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Why is the base EUR lower than GLJ's?</a:t>
            </a:r>
          </a:p>
          <a:p>
            <a:r>
              <a:t>A: The repository base uses TEC-10's own decline (b ≈ 0.5); GLJ's 1P type well (qi 200, Di 36.6 %, b 0.5) gives ~250 kbbl. GLJ is the booked number; ours is a conservative check (docs/06_forecast.md).</a:t>
            </a:r>
          </a:p>
          <a:p/>
          <a:p>
            <a:r>
              <a:t>Q: Downside case?</a:t>
            </a:r>
          </a:p>
          <a:p>
            <a:r>
              <a:t>A: Low profile (65 kbbl EUR) is negative at every price tested (-1.02 MM incremental on GLJ); that is the case where the window adds nothing and the produced interval underperforms.</a:t>
            </a:r>
          </a:p>
          <a:p/>
          <a:p>
            <a:r>
              <a:t>Q: Why GLJ Oct 2026?</a:t>
            </a:r>
          </a:p>
          <a:p>
            <a:r>
              <a:t>A: Current independent deck, the basis Kinjal's planned reserve report is likely to use. It averages ~USD 78/bbl WTI over 2027-35. Flat-price sensitivity is on the chart.</a:t>
            </a:r>
          </a:p>
          <a:p/>
          <a:p>
            <a:r>
              <a:t>Q: What about after-tax?</a:t>
            </a:r>
          </a:p>
          <a:p>
            <a:r>
              <a:t>A: Base incremental +0.11 MM after tax; the 30 % tax with 25 % declining-balance depreciation takes ~0.36 MM.</a:t>
            </a:r>
          </a:p>
          <a:p/>
          <a:p>
            <a:r>
              <a:t>Q: Source</a:t>
            </a:r>
          </a:p>
          <a:p>
            <a:r>
              <a:t>A: docs/10_econ_rebuild.md; data/processed/econ_rebuild/; docs/08_afe.md.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Which case is right?</a:t>
            </a:r>
          </a:p>
          <a:p>
            <a:r>
              <a:t>A: Both are internally consistent. GLJ's is the booked case; ours charges water handling explicitly, which TEC-10's water cuts make material. Kinjal's planned post-closing report can choose; the bridge shows exactly what moves the answer (data/processed/econ_rebuild/bridge.csv).</a:t>
            </a:r>
          </a:p>
          <a:p/>
          <a:p>
            <a:r>
              <a:t>Q: How did you get GLJ's type well?</a:t>
            </a:r>
          </a:p>
          <a:p>
            <a:r>
              <a:t>A: From GLJ's stated qi 200 bbl/d, Di 36.6 %, b 0.5, reading Di as an effective annual decline: that gives 252 kbbl over 30 years against GLJ's 1P EUR of 250. The reading is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Q: What happens to the contract under the 2025 reform?</a:t>
            </a:r>
          </a:p>
          <a:p>
            <a:r>
              <a:t>A: Secondary sources (GT Law, Holland &amp; Knight) say pre-existing contracts keep their terms; the CNE now regulates; CNH suspended evaluation periods and transition programmes in Feb 2025 while contractors kept executing approved plans. Counsel to confirm against the DOF text (G-49).</a:t>
            </a:r>
          </a:p>
          <a:p/>
          <a:p>
            <a:r>
              <a:t>Q: Payment risk?</a:t>
            </a:r>
          </a:p>
          <a:p>
            <a:r>
              <a:t>A: PEMEX pays through the NAFIN factoring portal; 2019 saw invoice-loading delays. Settlements 2020-22 reconcile within 1-4 % of the tickets (docs/15_pemex_settlements.md).</a:t>
            </a:r>
          </a:p>
          <a:p/>
          <a:p>
            <a:r>
              <a:t>Q: Gas?</a:t>
            </a:r>
          </a:p>
          <a:p>
            <a:r>
              <a:t>A: Flared under the evaluation-period approval; volumes ~0.1-0.2 MMcf/d sour gas. The 2017 plan justified flaring at GOR 337 scf/bbl against 742-859 measured, under a 98 % utilisation norm (G-67); a gas solution may be required in the Development Plan.</a:t>
            </a:r>
          </a:p>
          <a:p/>
          <a:p>
            <a:r>
              <a:t>Q: Why are the wells shut in?</a:t>
            </a:r>
          </a:p>
          <a:p>
            <a:r>
              <a:t>A: GLJ YE2025: early 2023, environmental permit. CNH filings: from July 2022. IFR representation letters say all permits are in place. Counsel to reconcile before closing (G-65).</a:t>
            </a:r>
          </a:p>
          <a:p/>
          <a:p>
            <a:r>
              <a:t>Q: Area charges?</a:t>
            </a:r>
          </a:p>
          <a:p>
            <a:r>
              <a:t>A: As paid 2024-25: FMP quota MXN 29,829/month plus IEEH USD 42.8 k/yr, about USD 5.2 k/month; the IEEH amount looks like the extraction-phase rate, to confirm (G-60).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Kevin: docs/19_database_review.md summarises the file-by-file review; docs/gaps.md lists each item with its status. Items not to lead with but to answer if asked: TEC-9 Tonalli testing (no record; the PEMEX 2012 job is documented), solvent product composition, TEC-11 Workstrings invoices (G-64), shut-in cause (G-65), CNH consent to the change of control (G-66).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PEMEX TEC-2 weekly drilling reports 1956 (1oHDmwaM); TEC-6 informe final; PEMEX summary tables; Tonalli operations log; Sep 2022 Jaguar review; IHS PTA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docs/05_pressure.md; data/processed/pressure/tecolutla_pressures.csv.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A78D6"/>
                </a:solidFill>
              </a:defRPr>
            </a:pPr>
            <a:r>
              <a:t>Tecolutla Field, Contract Area 24 (Veracruz, Mexico)</a:t>
            </a:r>
          </a:p>
          <a:p>
            <a:pPr>
              <a:defRPr sz="2400">
                <a:solidFill>
                  <a:srgbClr val="0B0B0B"/>
                </a:solidFill>
              </a:defRPr>
            </a:pPr>
            <a:r>
              <a:t>Technical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Prepared for Kinjal - October 2026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Kevin Gunning, P.Eng.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Depths in m subsea (mSS) unless marked mMD; pressures at 2,300 mSS; USD. Sources for every figure are in the speaker notes and the data package.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Tecolutla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14400"/>
          <a:ext cx="11338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583680"/>
                <a:gridCol w="29260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 end of the Golden Lane (Faja de Oro) El Abra reef rim, Tampico-Misantla basin; ~60 km ESE of Poza 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PEMEX field summary; 2017 evaluation plan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CNH-R01-L03-A24/2016 licence (Round 1.3, Aug 2016); operator Tonalli Energía; 7.2 km²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contract; CNH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Reservoir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El Abra (Middle Cretaceous) reef-margin grainstone-packstone; top 2,294-2,310 mSS across the wells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well tops, GLJ YE2019 map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Field area / OOIP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2.5-3.1 km²; 7.8 MMbbl (PEMEX/CNH booked), 11.2 MMbbl (IFR), P50 10.0 MMbbl (IFR 2018 pre-drill 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docs/07_volumetrics.md; TM-01 deck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1.98 MMbbl to end-2022 (about 20-25 % of OOIP); peak 932 bbl/d (Mar 1972)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docs/04; PEMEX summary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Strong bottom-water aquifer: ~70 psi decline in 62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docs/05_pressure.md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26.5-31 °API, 1.6-1.9 % S; GOR ~560-860 scf/bbl; sour gas (H2S 0.7-1.7 mol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lab analyses; CNH filings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 PEMEX wells 1956-73 (4 producers); TEC-10DES and TEC-11DES drilled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well files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Reserves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GLJ YE2025 for Kinjal (100 %): 348 / 903 / 1,383 kbbl, NPV10 BT 2.9 / 8.1 / 12.1 MM USD, none producing; PEMEX 1 Jan 2015: 1P 0.0, 2P 0.0, 3P 0.1 MMbbl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GLJ report 25269; CNH 2015 table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Last production Jan 2023; TEC-10 and TEC-2 shut in, TEC-7 water disposal; TEC-12 approved in the 2022 transition programme, not drilled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GLJ YE2025; CNH filings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Regional setting: a small high on the Golden Lane reef rim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3</a:t>
            </a:r>
          </a:p>
        </p:txBody>
      </p:sp>
      <p:pic>
        <p:nvPicPr>
          <p:cNvPr id="5" name="Picture 4" descr="resumen_campo_03_Figura_iii_1_Secci_n_s_smica_regional_en_tiempo_en_direcci_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931920" cy="3017737"/>
          </a:xfrm>
          <a:prstGeom prst="rect">
            <a:avLst/>
          </a:prstGeom>
        </p:spPr>
      </p:pic>
      <p:pic>
        <p:nvPicPr>
          <p:cNvPr id="6" name="Picture 5" descr="resumen_campo_05_Figura_iv_1_Secci_n_del_S_smica_del_Campo_Tecolutla_con_el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914400"/>
            <a:ext cx="3566160" cy="33689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59" y="914400"/>
            <a:ext cx="3749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Golden Lane: an Early-Cretaceous carbonate atoll about 150 × 70 km and 1,200 m thick, rimming the Tuxpan platform; reef facies on the outer edge.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Tecolutla sits at the SE end of the onshore rim, between the Miguel Hidalgo block (NW) and Ignacio Allende (SE); same El Abra play as the giant Golden Lane fields, at a much smaller scale.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End-Albian exposure improved reservoir quality (karst, recrystallisation); Tertiary Tantoyuca rests directly on the El Abra over the crest (unconformity).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Left: PEMEX regional time section across the platform edge. Right: field section with the facies model (basin, slope, reef barrier, back-reef, inner platform).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Analogues: 45 El Abra fields in the CNH table; reef-rim median recovery 31 % (3P EUR); Tecolutla has 2.5 MMbbl/km² against a median 8.3.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Structure and well locations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</a:t>
            </a:r>
          </a:p>
        </p:txBody>
      </p:sp>
      <p:pic>
        <p:nvPicPr>
          <p:cNvPr id="5" name="Picture 4" descr="resumen_campo_04_Figura_iii_2_Mapa_estructural_en_profundidad_del_yacimient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108960" cy="2805533"/>
          </a:xfrm>
          <a:prstGeom prst="rect">
            <a:avLst/>
          </a:prstGeom>
        </p:spPr>
      </p:pic>
      <p:pic>
        <p:nvPicPr>
          <p:cNvPr id="6" name="Picture 5" descr="25_el_abra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4480560" cy="3243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914400"/>
            <a:ext cx="3657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NW-SE elongated culmination on the reef rim; normal faults on both flanks parallel to the axis (PEMEX); no faults between TEC-6 and TEC-9 (Petrel Robertson).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Top El Abra (mSS): TEC-6 2,294; TEC-9 2,296; TEC-2 2,302; TEC-7 2,304; TEC-10 2,310 (2,313 on XRD); TEC-101 2,334; TEC-3 2,373.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Jan 2019 depth grid (right, 50 m nodes): ties all eight vertical-well tops within ±2 m; southern high ~2,286 at TEC-6/TEC-12; the -2,374 lowest-known-oil contour closes around the field. Its northern culmination (2,284) is not supported by the PEMEX PSTM (next slide).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Flank wells TEC-3 (NE), TEC-5 (NW) and TEC-101 found the El Abra low and wet; they define the edges.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TEC-12 bottom hole: on the southern high, 118 m from TEC-9; grid -2,289, PSTM-based -2,293, prognosis -2,296 mSS.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Seismic check: the PEMEX PSTM puts TEC-12 on top of the southern crest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5</a:t>
            </a:r>
          </a:p>
        </p:txBody>
      </p:sp>
      <p:pic>
        <p:nvPicPr>
          <p:cNvPr id="5" name="Picture 4" descr="27_seismic_structur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9202994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26279"/>
            <a:ext cx="5577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PEMEX PSTM (2011-15 processing, read in full Oct 2026): </a:t>
            </a:r>
            <a:r>
              <a:rPr sz="1050">
                <a:solidFill>
                  <a:srgbClr val="0B0B0B"/>
                </a:solidFill>
              </a:rPr>
              <a:t>reef-top time high on TEC-6 / TEC-12 / TEC-9 / TEC-10; TEC-12 earlier than every well except TEC-6; time correlates with the well tops (r = +0.69).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Depth at TEC-12: </a:t>
            </a:r>
            <a:r>
              <a:rPr sz="1050">
                <a:solidFill>
                  <a:srgbClr val="0B0B0B"/>
                </a:solidFill>
              </a:rPr>
              <a:t>-2,293 mSS from the crestal wells' velocities (2,928-2,937 m/s; leave-one-out error +-2.5-2.7 m at TEC-6/9/10), between the grid (-2,289) and the prognosis (-2,296): 3 m above TEC-9, 17 m above TEC-10.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526279"/>
            <a:ext cx="5577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DMI PSDM (2018): </a:t>
            </a:r>
            <a:r>
              <a:rPr sz="1050">
                <a:solidFill>
                  <a:srgbClr val="0B0B0B"/>
                </a:solidFill>
              </a:rPr>
              <a:t>visually sharper but its reef reflectors are highest in the west, opposite to the tops; it images the top of the carbonate package, not the El Abra top (a marl thickens off the crest). The grid's northern high is not supported by the PSTM.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Reservoir rock and fluids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14400"/>
          <a:ext cx="113385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035040"/>
                <a:gridCol w="3566160"/>
              </a:tblGrid>
              <a:tr h="274319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Basis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Facies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Recrystallised miliolid grainstone to mudstone-wackestone, 91-100 % calcite; within the El Abra high GR marks porous facies (TEC-9, TEC-2). Overlying Tantoyuca is a silty marl (quartz ~31 %, clay ~9 %)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TEC-10 core, XRD on cuttings; logs; TEC-11 mud log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Porosity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2-11 %; producing intervals 5-6 %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logs; TEC-10 core plugs 2.3 / 6.7 / 7.6 %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Permeability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Matrix 0.04-1.2 mD (core); 18 mD effective from the TEC-10 build-up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core; IHS 2018 PTA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Fractures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0-7 open/mixed fractures per metre on the TEC-10 image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Weatherford CMI 2,296-2,488 mMD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Initial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252 kg/cm² (24.7 MPa) at ~2,310 m, 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PEMEX drilling report TEC-2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~98-99 °C at reservoir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log headers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26.5-31 °API; 1.6-1.9 % S; dead oil 13.2 cP at 26 °C, 3.4 cP at 90 °C (TEC-9 2012); pour point -24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SGS, Intertek, PEMEX lab, settlements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GOR 560 (1966-92), 762 (2018 test), 859 (2021) scf/bbl; H2S 0.66-1.75 mol %, CO2 ~11 %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lab gas analyses; CNH filings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~45,000-50,000 ppm (1956 tests); produced-water median 25,000-27,000 ppm (2009-15)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PEMEX tests and samples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Paraffin deposits in tubing (TEC-2, 2018); handled with periodic solvent clean-ups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Tonalli operations log</a:t>
                      </a:r>
                    </a:p>
                  </a:txBody>
                  <a:tcPr/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No laboratory PVT study exists; correlations and a PEMEX analogue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G-31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Drive mechanism: a strong bottom-water aquifer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7</a:t>
            </a:r>
          </a:p>
        </p:txBody>
      </p:sp>
      <p:pic>
        <p:nvPicPr>
          <p:cNvPr id="5" name="Picture 4" descr="05_pressure_deple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766560" cy="5316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914400"/>
            <a:ext cx="46634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Pressure barely moved. </a:t>
            </a:r>
            <a:r>
              <a:rPr sz="1100">
                <a:solidFill>
                  <a:srgbClr val="0B0B0B"/>
                </a:solidFill>
              </a:rPr>
              <a:t>24.65 MPa (1956) → 24.4-24.7 (1964) → 24.5 (1998) → 24.14-24.16 MPa (2018) at 2,300 mSS: about 0.5 MPa (70 psi) after ~1.9 MMbbl and 62 years.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Transients see it. </a:t>
            </a:r>
            <a:r>
              <a:rPr sz="1100">
                <a:solidFill>
                  <a:srgbClr val="0B0B0B"/>
                </a:solidFill>
              </a:rPr>
              <a:t>Both 2018 build-ups needed a constant-pressure boundary to match late time: 195 m from TEC-10, 700 m from TEC-2.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Water behaviour. </a:t>
            </a:r>
            <a:r>
              <a:rPr sz="1100">
                <a:solidFill>
                  <a:srgbClr val="0B0B0B"/>
                </a:solidFill>
              </a:rPr>
              <a:t>Every well watered out; PEMEX shut TEC-2 and TEC-7 in 1957-71 'for high salt-water content' and re-perforated higher.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Consequences. </a:t>
            </a:r>
            <a:r>
              <a:rPr sz="1100">
                <a:solidFill>
                  <a:srgbClr val="0B0B0B"/>
                </a:solidFill>
              </a:rPr>
              <a:t>Voidage is replaced, so recovery is about sweep and water management, not pressure support. Rate per well is limited by coning, and water handling is the main operating cost.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Implication for new wells. </a:t>
            </a:r>
            <a:r>
              <a:rPr sz="1100">
                <a:solidFill>
                  <a:srgbClr val="0B0B0B"/>
                </a:solidFill>
              </a:rPr>
              <a:t>Low drawdown, completion high in the column, and in-field water disposal.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Production history: 1956-2022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8</a:t>
            </a:r>
          </a:p>
        </p:txBody>
      </p:sp>
      <p:pic>
        <p:nvPicPr>
          <p:cNvPr id="5" name="Picture 4" descr="04_produc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754624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1824" y="914400"/>
            <a:ext cx="5675376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1956-1965: four wells flow from the El Abra; TEC-2 and TEC-7 shut in for salt water from 1957, TEC-6 carries the field.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1971-72 workovers re-perforate TEC-2 and TEC-7 higher; field peak 932 bbl/d in March 1972; TEC-9 drilled 1973.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1973-2012: decline with rising water cut; intermittent operation; TEC-9's second life 2003-2012 (a 2012 solvent-acid job took it from 10 to 102 bopd).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2016: PEMEX hands over; 1.9 MMbbl produced; field shut in Feb 2016 - mid 2018.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2018-2022: Tonalli/IFR programme. TEC-10 75.8 kbbl to Dec 2021 (first full month 181 bbl/d); TEC-2 10.0 kbbl since 2018; PEMEX-measured sales 63 kbbl Sep 2018 - Nov 2020.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GOR stable at 400-800 scf/bbl through 1966-92 (cumulative 565); no sign of a gas-cap blow-down.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How the field was produced: each well chased the water upward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9</a:t>
            </a:r>
          </a:p>
        </p:txBody>
      </p:sp>
      <p:pic>
        <p:nvPicPr>
          <p:cNvPr id="5" name="Picture 4" descr="22_interval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863840" cy="42396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TEC-6, TEC-2 and TEC-7 each moved 10-25 m up the column as the bottom water arrived (faded bars = earlier intervals).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TEC-9 is the exception: 353 kbbl from one interval 27-32 m below its top El Abra, never re-perforated.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The water did not rise as a flat plane: TEC-10 (2018) found an oil-bearing interval at 2,314-2,318 mSS, 7-11 m below the last TEC-2/TEC-7 intervals, and produced it at 30-60 % oil cut.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Water advances by coning and along fractures around each producer, which leaves oil between and above the old wells.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Under-exploited top of the zone: </a:t>
            </a:r>
            <a:r>
              <a:rPr sz="1050">
                <a:solidFill>
                  <a:srgbClr val="0B0B0B"/>
                </a:solidFill>
              </a:rPr>
              <a:t>the crest wells left the top of the El Abra unperforated, 14 m at TEC-6 (2,294-2,308 mSS) and 27 m at TEC-9 (2,296-2,323 mSS). Nothing has produced from 2,294-2,303 mSS anywhere in the field.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IFR/Tonalli programme 2018-2019: what was done and what it showed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14400"/>
          <a:ext cx="113385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291840"/>
                <a:gridCol w="3566160"/>
                <a:gridCol w="2743200"/>
              </a:tblGrid>
              <a:tr h="274319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What it told us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TEC-10DES (Apr-May 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New J-shape well from a new pad; modern logs (incl. image log), core at 2,352 m, three zones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Zone A no inflow; zone B weak water inflow. Zone C 2,314-2,318 mSS: 182 bbl/d oil at 39 % WC, ~880 psi FTP; 75.8 kbbl to Dec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Oil column intact below the last PEMEX intervals; flowing well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TEC-2 (2018, 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Wellhead repair, clean-out (paraffin); 2019 add-perf 2,315-2,316 mSS and plug over wet deep perfs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2018: 50 bbl/d oil at 90 % WC; 2019: 47 bbl/d at 75 % WC, ~250 psi; 10.0 kbbl since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Old wells can be restored; water shut-off pays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TEC-7 (Jun-Aug 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Workover, acid; tested 2,305-2,308 mSS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182 bbl/d water, no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Converted to produced-water disposal (triplex pump, ASEA-authorised)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TEC-11DES (Nov-Dec 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720 m open-hole horizontal from the TEC-2 pad, aimed at the top of the zone for low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Lateral at 2,305-2,331 mSS in tight mudstone; open hole lost; five liner perfs 2,643.5-2,745.5 mMD, 286 bbl/d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Execution failure; the concept is untested (slide 13)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Facilities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TEC-10 to TEC-2 flowline; separator purchased; in-field disposal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One battery; water trucking ended Aug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Field opex down by about two-thirds (slide 14)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TEC-10DES: confirming the oil column between the old producers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09_log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949440" cy="4106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914400"/>
            <a:ext cx="4480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J-shape well from a new pad beside TEC-6, 193 m step-out to the south; top El Abra 2,310 mSS (log), 2,313 mSS on cuttings XRD: TEC-10 is 14-20 m lower than the crest.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Modern suite: triple-combo, dipole sonic, Weatherford CMI image log; 10 m core at 2,352 mMD (grainstone, 2-8 % porosity, Dean-Stark oil 14-59 % PV).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Perforated 2,349.5-2,353 mMD (2,314-2,318 mSS) at the resistivity break (4-5 → 15-50 ohm·m), acidised, flowed.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Test: 182 bbl/d oil, 118 bbl/d water, 146 Mcf/d, ~880 psi flowing (Jul 2018); IHS build-up: k 18 mD, skin +5, aquifer boundary at 195 m.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Production: 181 bbl/d first full month; qi 152 bbl/d, b ≈ 0.5 decline; 75.8 kbbl to Dec 2021, last rate 34 bbl/d at 86 % WC; flowing throughout, kept on with solvent clean-ups.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Above the perforations, 2,294-2,311 mSS is Tantoyuca marl on XRD (quartz 31 %, clay 9 %); IFR's evaluation finds no pay above 2,314 mSS. TEC-10 therefore did not sample the crestal El Abra window that TEC-12 targets.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Restoring old wells and running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0B0B0B"/>
                </a:solidFill>
              </a:rPr>
              <a:t>TEC-2 restart. </a:t>
            </a:r>
            <a:r>
              <a:rPr sz="1300">
                <a:solidFill>
                  <a:srgbClr val="0B0B0B"/>
                </a:solidFill>
              </a:rPr>
              <a:t>2018 clean-out found paraffin in the tubing; 7-day test 50 bbl/d oil at 90 % WC. 2019: add-perf at 2,315-2,316 mSS (operations log), permanent plug at 2,322.5 mMD to shut off wet deeper perforations; 69-day test 47 bbl/d at 75 % WC.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0B0B0B"/>
                </a:solidFill>
              </a:rPr>
              <a:t>TEC-2 operating practice. </a:t>
            </a:r>
            <a:r>
              <a:rPr sz="1300">
                <a:solidFill>
                  <a:srgbClr val="0B0B0B"/>
                </a:solidFill>
              </a:rPr>
              <a:t>Produced in cycles: on until the water cut climbs, shut in to let the cone subside, then back on; last reported 18 bbl/d oil at 72 % WC (Sep 2020).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0B0B0B"/>
                </a:solidFill>
              </a:rPr>
              <a:t>TEC-7 disposal. </a:t>
            </a:r>
            <a:r>
              <a:rPr sz="1300">
                <a:solidFill>
                  <a:srgbClr val="0B0B0B"/>
                </a:solidFill>
              </a:rPr>
              <a:t>Tested 100 % water in 2019; converted to produced-water injection by triplex pump from 7 Aug 2019 under ASEA authorisation 1712/2019. Indicative injectivity 0.5-1 bbl/min at under 450 psi on the 2019 job.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0B0B0B"/>
                </a:solidFill>
              </a:rPr>
              <a:t>TEC-10 flowing. </a:t>
            </a:r>
            <a:r>
              <a:rPr sz="1300">
                <a:solidFill>
                  <a:srgbClr val="0B0B0B"/>
                </a:solidFill>
              </a:rPr>
              <a:t>Natural flow from 880 psi (2018) declining; no artificial lift needed to date.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0B0B0B"/>
                </a:solidFill>
              </a:rPr>
              <a:t>Solvent clean-ups. </a:t>
            </a:r>
            <a:r>
              <a:rPr sz="1300">
                <a:solidFill>
                  <a:srgbClr val="0B0B0B"/>
                </a:solidFill>
              </a:rPr>
              <a:t>Aromatic solvent jobs (2-3 m³ APSOL-AP) to remove wax from tubing and the near-wellbore: six jobs in 2019, four on TEC-10 and two on TEC-2, repeated as needed; oil cut and rate recover for a period after each job.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0B0B0B"/>
                </a:solidFill>
              </a:rPr>
              <a:t>Water handling. </a:t>
            </a:r>
            <a:r>
              <a:rPr sz="1300">
                <a:solidFill>
                  <a:srgbClr val="0B0B0B"/>
                </a:solidFill>
              </a:rPr>
              <a:t>TEC-10 production flows to the TEC-2 battery (2 in, 504 m line); separation, tankage, crude trucked to PEMEX; water to TEC-7.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TEC-11DES horizontal: the concept and why the well did not test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13</a:t>
            </a:r>
          </a:p>
        </p:txBody>
      </p:sp>
      <p:pic>
        <p:nvPicPr>
          <p:cNvPr id="5" name="Picture 4" descr="03_tec11_lateral_fa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217920" cy="4531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914400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Concept. </a:t>
            </a:r>
            <a:r>
              <a:rPr sz="1100">
                <a:solidFill>
                  <a:srgbClr val="0B0B0B"/>
                </a:solidFill>
              </a:rPr>
              <a:t>A 720 m open-hole lateral in the top of the El Abra from the TEC-2 pad: low drawdown along a long contact to delay water coning.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What was drilled. </a:t>
            </a:r>
            <a:r>
              <a:rPr sz="1100">
                <a:solidFill>
                  <a:srgbClr val="0B0B0B"/>
                </a:solidFill>
              </a:rPr>
              <a:t>Azimuth 316-331° to cut fractures predicted from TEC-10; lateral at 2,305-2,331 mSS (mostly 2,322-2,324) down the north-west plunge, 4-12 m below the TEC-6/TEC-9 high, through 923 m of mostly mudstone-wackestone; on the Jan 2019 grid mostly 4-10 m above the mapped El Abra top.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Execution problems. </a:t>
            </a:r>
            <a:r>
              <a:rPr sz="1100">
                <a:solidFill>
                  <a:srgbClr val="0B0B0B"/>
                </a:solidFill>
              </a:rPr>
              <a:t>Navigation below plan, no pilot hole and no logs while drilling, hole collapse in the lateral, failed tie-back and liner cement job, fish; the open-hole section could not be re-entered.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Final state and test. </a:t>
            </a:r>
            <a:r>
              <a:rPr sz="1100">
                <a:solidFill>
                  <a:srgbClr val="0B0B0B"/>
                </a:solidFill>
              </a:rPr>
              <a:t>4.5 in liner 1,869-2,863 mMD, fish at 2,866-2,872, open hole to 3,283; acid bullheaded without isolation; five perforations 2,643.5-2,745.5 mMD flowed 286 bbl/d water, no oil; Tantoyuca recompletion trace 17 °API oil; composite plug at 2,400 m (Aug 2019).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B0B0B"/>
                </a:solidFill>
              </a:rPr>
              <a:t>Lessons applied to TEC-12. </a:t>
            </a:r>
            <a:r>
              <a:rPr sz="1100">
                <a:solidFill>
                  <a:srgbClr val="0B0B0B"/>
                </a:solidFill>
              </a:rPr>
              <a:t>A conventional deviated well to the crest, a full open-hole log suite before completion, perforations chosen on the logs, and no unisolated acid near the water. The operator's own 2019 summary: 'faults and fractures connect aquifer to oil column'.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Operations and opex: logistics brought field costs down by two-thirds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14</a:t>
            </a:r>
          </a:p>
        </p:txBody>
      </p:sp>
      <p:pic>
        <p:nvPicPr>
          <p:cNvPr id="5" name="Picture 4" descr="23_field_o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9144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617720"/>
            <a:ext cx="5577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2019, two wells on test: </a:t>
            </a:r>
            <a:r>
              <a:rPr sz="1050">
                <a:solidFill>
                  <a:srgbClr val="0B0B0B"/>
                </a:solidFill>
              </a:rPr>
              <a:t>USD 54-83 k/month field opex (839 k for the year, 25.6 USD/bbl), with a rented separator (MXN 216 k/month) and water trucked out.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Changes: </a:t>
            </a:r>
            <a:r>
              <a:rPr sz="1050">
                <a:solidFill>
                  <a:srgbClr val="0B0B0B"/>
                </a:solidFill>
              </a:rPr>
              <a:t>TEC-7 disposal (Aug 2019, water trucking ends); TEC-10 to TEC-2 flowline and one battery (Nov 2019); separator bought, rental ended Mar 2020; TEC-2 shut in when uneconomic.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617720"/>
            <a:ext cx="5577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Sep 2020 run-rate: </a:t>
            </a:r>
            <a:r>
              <a:rPr sz="1050">
                <a:solidFill>
                  <a:srgbClr val="0B0B0B"/>
                </a:solidFill>
              </a:rPr>
              <a:t>about USD 28 k/month: crew MXN 280 k, vacuum truck 108 k, diesel 60 k, frac tank 32 k, consumables and lab; roughly 13-16 USD/bbl at 2020 volumes.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Actuals 2020-21: </a:t>
            </a:r>
            <a:r>
              <a:rPr sz="1050">
                <a:solidFill>
                  <a:srgbClr val="0B0B0B"/>
                </a:solidFill>
              </a:rPr>
              <a:t>USD 24-25 k/month Jul-Nov 2020 and 29 k/month in 2021 (17.7 and 19.9 USD/bbl). 2018-23 field revenue 4.48 MM, royalties and fees 1.87 MM, opex 2.61 MM: field netback about zero before G&amp;A and capital. 2023 care and maintenance ~52 k/month.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Wellbores: all nine wells documented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15</a:t>
            </a:r>
          </a:p>
        </p:txBody>
      </p:sp>
      <p:pic>
        <p:nvPicPr>
          <p:cNvPr id="5" name="Picture 4" descr="18_wellbore_sche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86384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PEMEX wells: 9 5/8 in surface casing at 500-610 m (807 m at TEC-101), 6 5/8 in production casing to ~2,300 m, 4 1/2 in liners across the El Abra (TEC-2, TEC-6, TEC-7); TEC-3, TEC-5, TEC-101 plugged.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TEC-10: 7 in L-80 to 2,285 mMD cemented to surface; 4 1/2 in L-80 liner 2,133-2,489 mMD; perforations 2,349.5-2,353 mMD.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TEC-11: 7 in to 2,354 mMD; 4 1/2 in liner 1,869-2,863 mMD, fish 2,866-2,872, open hole to 3,283; composite plug at 2,400 mMD.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Integrity: TEC-2 and TEC-7 accepted in 2017 without integrity tests. TEC-6 (beside the TEC-12 pad) abandoned 2007 with its 6 5/8 in casing parted at 352 m; TEC-9 breached at ~70 m (repaired) and 530-833 m, plugged 4 Jan 2013.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Abandonment reserve USD 411 k (four wells + line, separator, pit); trust balance MXN 6.94 MM (2024-25).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Full casing table with a source on every row: data/processed/wells/casing_strings.csv.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Volumes: in place, produced and remaining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16</a:t>
            </a:r>
          </a:p>
        </p:txBody>
      </p:sp>
      <p:pic>
        <p:nvPicPr>
          <p:cNvPr id="5" name="Picture 4" descr="07_volu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949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914400"/>
            <a:ext cx="4480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OOIP. </a:t>
            </a:r>
            <a:r>
              <a:rPr sz="1050">
                <a:solidFill>
                  <a:srgbClr val="0B0B0B"/>
                </a:solidFill>
              </a:rPr>
              <a:t>7.8 MMbbl PEMEX/CNH booked; 11.2 MMbbl IFR (modern-log petrophysics); probabilistic P90/P50/P10 8.1 / 10.0 / 12.2 MMbbl. IFR's 2018 pre-drill figure was 26 MMbbl.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Produced. </a:t>
            </a:r>
            <a:r>
              <a:rPr sz="1050">
                <a:solidFill>
                  <a:srgbClr val="0B0B0B"/>
                </a:solidFill>
              </a:rPr>
              <a:t>1.98 MMbbl to end-2022 (1.72 monthly record + PEMEX wellfile allocations): 18-25 % of OOIP.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Analogue recovery. </a:t>
            </a:r>
            <a:r>
              <a:rPr sz="1050">
                <a:solidFill>
                  <a:srgbClr val="0B0B0B"/>
                </a:solidFill>
              </a:rPr>
              <a:t>45 El Abra fields: reef-rim 3P EUR recovery P90/median/P10 12 / 31 / 40 %; best 53 %.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Remaining recoverable. </a:t>
            </a:r>
            <a:r>
              <a:rPr sz="1050">
                <a:solidFill>
                  <a:srgbClr val="0B0B0B"/>
                </a:solidFill>
              </a:rPr>
              <a:t>0.3-1.6 MMbbl; most likely ~0.9 MMbbl at trend-average recovery.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Where it is. </a:t>
            </a:r>
            <a:r>
              <a:rPr sz="1050">
                <a:solidFill>
                  <a:srgbClr val="0B0B0B"/>
                </a:solidFill>
              </a:rPr>
              <a:t>Between and above the old producers on the crest, where the aquifer has coned rather than swept (slide 9).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Booked. </a:t>
            </a:r>
            <a:r>
              <a:rPr sz="1050">
                <a:solidFill>
                  <a:srgbClr val="0B0B0B"/>
                </a:solidFill>
              </a:rPr>
              <a:t>PEMEX 1 Jan 2015: 1P 0.0, 2P 0.0, 3P 0.1 MMbbl. GLJ YE2025 for Kinjal: 348 / 903 / 1,383 kbbl, none producing; TEC-12 EUR 250 / 399 / 578 kbbl.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The lever is petrophysics. </a:t>
            </a:r>
            <a:r>
              <a:rPr sz="1050">
                <a:solidFill>
                  <a:srgbClr val="0B0B0B"/>
                </a:solidFill>
              </a:rPr>
              <a:t>Porosity and net-to-gross, not area, drive the 4 MMbbl OOIP uncertainty; TEC-12's logs measure it directly.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0B0B"/>
                </a:solidFill>
              </a:defRPr>
            </a:pPr>
            <a:r>
              <a:t>TEC-12: the remaining opportunity is the unswept top of the El Abra on the crest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14400"/>
          <a:ext cx="7498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60"/>
                <a:gridCol w="1463040"/>
                <a:gridCol w="1371600"/>
                <a:gridCol w="20116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Top El Abra mSS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Highest perforation mSS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Unperforated 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TEC-6 (crest)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507 kbbl recorded + 388 kbbl allocated; 3 intervals stepping up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TEC-9 (crest)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 m (top 8 m porous; cemented by PEMEX, never perforated)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353 kbbl from one interval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2,300-2,302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1-3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320 kbbl 1972-2016; 10 kbbl 2018-20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267 kbbl; 100 % water 2019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TEC-10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2,310 (2,313 XRD)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1-4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oil at 30-60 % cut, 75.8 kbbl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TEC-12 (planned)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2,296 prog.; 2,289 grid; 2,293 PSTM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 be chosen on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target: top ~8 m of El Abra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crest, 118 m from TEC-9, 175 m from TEC-10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914400"/>
            <a:ext cx="3657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Every well that produced from near its top El Abra (TEC-2, TEC-7) did so 6-10 m lower on structure than the crest.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On the crest, the top 14-27 m of the El Abra was left unperforated by PEMEX: it is the highest, least-drained part of the field. At TEC-9 its top 8 m has SPHI ~15 % and ILD ~8 ohm·m; the 6 m below is tight.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TEC-12 targets it from the TEC-10 pad: S-shape well, target El Abra at -2,296 mSS, TD 2,360 mMD (-2,333 mSS), 7 in casing to TD, AFE USD 2.04 MM (1.57 MM at Nov 2020 prices, PPI-indexed).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Fallback: the 2,311-2,332 mSS interval that produced in every well.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TEC-12: what the offset logs say, and how the well is designed to answer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18</a:t>
            </a:r>
          </a:p>
        </p:txBody>
      </p:sp>
      <p:pic>
        <p:nvPicPr>
          <p:cNvPr id="5" name="Picture 4" descr="15_sw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023360" cy="2475914"/>
          </a:xfrm>
          <a:prstGeom prst="rect">
            <a:avLst/>
          </a:prstGeom>
        </p:spPr>
      </p:pic>
      <p:pic>
        <p:nvPicPr>
          <p:cNvPr id="6" name="Picture 5" descr="16_tec9_rw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914400"/>
            <a:ext cx="3657600" cy="213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914400"/>
            <a:ext cx="356615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950">
                <a:solidFill>
                  <a:srgbClr val="0B0B0B"/>
                </a:solidFill>
              </a:rPr>
              <a:t>TEC-9 (118 m away, 1973 logs), the only well with El Abra at window depth: </a:t>
            </a:r>
            <a:r>
              <a:rPr sz="950">
                <a:solidFill>
                  <a:srgbClr val="0B0B0B"/>
                </a:solidFill>
              </a:rPr>
              <a:t>top 8 m (2,296-2,304 mSS) porous, SPHI ~15 %, ILD ~8 ohm·m, Sw at parity with the interval that made 353 kbbl; the next 6 m tight (SPHI 5 %).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B0B0B"/>
                </a:solidFill>
              </a:rPr>
              <a:t>TEC-10 and TEC-101: </a:t>
            </a:r>
            <a:r>
              <a:rPr sz="950">
                <a:solidFill>
                  <a:srgbClr val="0B0B0B"/>
                </a:solidFill>
              </a:rPr>
              <a:t>the same depths are Tantoyuca marl above a deeper El Abra (XRD at TEC-10: quartz 31 %, clay 9 %); low resistivity there is lithology. IFR's TEC-10 evaluation: no pay above 2,314 mSS.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B0B0B"/>
                </a:solidFill>
              </a:rPr>
              <a:t>Risks: </a:t>
            </a:r>
            <a:r>
              <a:rPr sz="950">
                <a:solidFill>
                  <a:srgbClr val="0B0B0B"/>
                </a:solidFill>
              </a:rPr>
              <a:t>the top unit may be thin or argillaceous; operator's 2019 view that the FWL may have risen to ~2,316 mTVDss with a transition zone above; a small crestal gas cap in 1956 (TEC-2 GOR ~6,500 scf/bbl).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B0B0B"/>
                </a:solidFill>
              </a:rPr>
              <a:t>Plan: </a:t>
            </a:r>
            <a:r>
              <a:rPr sz="950">
                <a:solidFill>
                  <a:srgbClr val="0B0B0B"/>
                </a:solidFill>
              </a:rPr>
              <a:t>triple-combo with PE, resistivity and image log, formation pressures and a fluid sample across 2,290-2,335 mSS; perforate on the data; low drawdown; solvent clean-ups as needed.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B0B0B"/>
                </a:solidFill>
              </a:rPr>
              <a:t>Decision rule: </a:t>
            </a:r>
            <a:r>
              <a:rPr sz="950">
                <a:solidFill>
                  <a:srgbClr val="0B0B0B"/>
                </a:solidFill>
              </a:rPr>
              <a:t>perforate the window if logs show El Abra with low clay and hydrocarbon; otherwise complete in the 2,311-2,332 mSS producing interval.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TEC-12: forecast and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19</a:t>
            </a:r>
          </a:p>
        </p:txBody>
      </p:sp>
      <p:pic>
        <p:nvPicPr>
          <p:cNvPr id="5" name="Picture 4" descr="10_econ_re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766560" cy="27968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914400"/>
            <a:ext cx="46634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Well: </a:t>
            </a:r>
            <a:r>
              <a:rPr sz="1050">
                <a:solidFill>
                  <a:srgbClr val="0B0B0B"/>
                </a:solidFill>
              </a:rPr>
              <a:t>S-shape from the TEC-10 pad, ~13 days drilling; AFE USD 2.04 MM (drill, complete, equip; Nov 2020 estimate indexed on the US drilling PPI).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Forecast range: </a:t>
            </a:r>
            <a:r>
              <a:rPr sz="1050">
                <a:solidFill>
                  <a:srgbClr val="0B0B0B"/>
                </a:solidFill>
              </a:rPr>
              <a:t>first-month rate 100-221 bbl/d across the studies; repository base 50 / 133 / 178 kbbl at 1 / 5 / 10 years, EUR 218 kbbl; GLJ YE2025 EUR 250 / 399 / 578 kbbl.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Price: </a:t>
            </a:r>
            <a:r>
              <a:rPr sz="1050">
                <a:solidFill>
                  <a:srgbClr val="0B0B0B"/>
                </a:solidFill>
              </a:rPr>
              <a:t>GLJ 1 Oct 2026 forecast, WTI 81 (2027), 75, 73, then rising 2 %/yr; costs +2 %/yr; realisation 0.81 × WTI (PEMEX settlements 2020-22).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Incremental to a producing TEC-10 </a:t>
            </a:r>
            <a:r>
              <a:rPr sz="1050">
                <a:solidFill>
                  <a:srgbClr val="0B0B0B"/>
                </a:solidFill>
              </a:rPr>
              <a:t>(battery, disposal and area fees already carried): NPV10 +0.47 MM before tax, +0.11 MM after tax; payout 27 months; IRR 29 %; high profile +1.44, low -1.02.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Stand-alone: </a:t>
            </a:r>
            <a:r>
              <a:rPr sz="1050">
                <a:solidFill>
                  <a:srgbClr val="0B0B0B"/>
                </a:solidFill>
              </a:rPr>
              <a:t>-0.57 MM before tax (high +0.20), carrying the area charges as paid in 2024-25 (USD 5.2 k/month). Flat-WTI break-evens ~66 incremental, ~86 stand-alone.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Upside: </a:t>
            </a:r>
            <a:r>
              <a:rPr sz="1050">
                <a:solidFill>
                  <a:srgbClr val="0B0B0B"/>
                </a:solidFill>
              </a:rPr>
              <a:t>high profile positive from WTI ~57 incremental; a successful window completion would also re-rate the crest for a follow-up well (TEC-13).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Basis: </a:t>
            </a:r>
            <a:r>
              <a:rPr sz="1050">
                <a:solidFill>
                  <a:srgbClr val="0B0B0B"/>
                </a:solidFill>
              </a:rPr>
              <a:t>contract fiscal terms (31.22 % bid royalty + basic royalty, 30 % tax), unchanged by the 2025 reform (LSH transitorio Décimo). GLJ's TEC-12 1P entity is 2.08 MM: the difference is mostly cost basis (next slide).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TEC-12 economics against GLJ's booking: the gap is cost basis, not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20</a:t>
            </a:r>
          </a:p>
        </p:txBody>
      </p:sp>
      <p:pic>
        <p:nvPicPr>
          <p:cNvPr id="5" name="Picture 4" descr="24_glj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8703126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09159"/>
            <a:ext cx="5577840" cy="1600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GLJ YE2025 for Kinjal: </a:t>
            </a:r>
            <a:r>
              <a:rPr sz="1050">
                <a:solidFill>
                  <a:srgbClr val="0B0B0B"/>
                </a:solidFill>
              </a:rPr>
              <a:t>TEC-12 1P entity NPV10 BT USD 2.08 MM (Jan-2026 deck, first oil Jul 2028, capex 1.96 MM).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Rebuilt step by step from our case: </a:t>
            </a:r>
            <a:r>
              <a:rPr sz="1050">
                <a:solidFill>
                  <a:srgbClr val="0B0B0B"/>
                </a:solidFill>
              </a:rPr>
              <a:t>deck -0.39, timing +0.04, capex +0.07, costs +1.46, type well +0.49, giving 2.13 MM (within 2 % of GLJ).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709159"/>
            <a:ext cx="5577840" cy="1600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B0B0B"/>
                </a:solidFill>
              </a:rPr>
              <a:t>The big step: </a:t>
            </a:r>
            <a:r>
              <a:rPr sz="1050">
                <a:solidFill>
                  <a:srgbClr val="0B0B0B"/>
                </a:solidFill>
              </a:rPr>
              <a:t>GLJ carries 1,670 $/well-month and 5.85 $/bbl with no water-handling charge; we carry 2,500 $/well-month, 7.25 $/bbl oil and 3.25 $/bbl water at 40-85 % water cut, in line with the 2020-21 actuals.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Commercial and regulatory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0B0B0B"/>
                </a:solidFill>
              </a:rPr>
              <a:t>Offtake: </a:t>
            </a:r>
            <a:r>
              <a:rPr sz="1200">
                <a:solidFill>
                  <a:srgbClr val="0B0B0B"/>
                </a:solidFill>
              </a:rPr>
              <a:t>crude sold to PEMEX at CAB Poza Rica under a 2018 sales contract (amended 2019); formula price realised at 0.81 × WTI (2020-22 volume-weighted); quality 28-31 °API, 1.5-1.9 % S; fixed tariffs 2.7-3.3 USD/bbl.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0B0B0B"/>
                </a:solidFill>
              </a:rPr>
              <a:t>Fiscal: </a:t>
            </a:r>
            <a:r>
              <a:rPr sz="1200">
                <a:solidFill>
                  <a:srgbClr val="0B0B0B"/>
                </a:solidFill>
              </a:rPr>
              <a:t>licence contract with 31.22 % bid royalty plus basic royalty, exploration/extraction fee on 7.2 km², 30 % income tax.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0B0B0B"/>
                </a:solidFill>
              </a:rPr>
              <a:t>Regulatory: </a:t>
            </a:r>
            <a:r>
              <a:rPr sz="1200">
                <a:solidFill>
                  <a:srgbClr val="0B0B0B"/>
                </a:solidFill>
              </a:rPr>
              <a:t>evaluation period and transition programme (approved 18 Jul 2022, includes TEC-12); Development Plan to be submitted. CNH's functions passed to the CNE in 2025; pre-reform contracts keep their terms (to be confirmed by counsel).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0B0B0B"/>
                </a:solidFill>
              </a:rPr>
              <a:t>Environmental: </a:t>
            </a:r>
            <a:r>
              <a:rPr sz="1200">
                <a:solidFill>
                  <a:srgbClr val="0B0B0B"/>
                </a:solidFill>
              </a:rPr>
              <a:t>ASEA impact authorisation (2017, extended to Oct 2023) and TEC-7 injection authorisation (2019); gas flared under the evaluation approval; SEMARNAT and CNH arrears settled in 2024.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0B0B0B"/>
                </a:solidFill>
              </a:rPr>
              <a:t>Contract: </a:t>
            </a:r>
            <a:r>
              <a:rPr sz="1200">
                <a:solidFill>
                  <a:srgbClr val="0B0B0B"/>
                </a:solidFill>
              </a:rPr>
              <a:t>term to 25 Aug 2041 plus two conditional 5-year extensions; guarantee USD 1.76 MM; minimum 4,600 work units (4,978 offered); change of control needs CNH consent (cl. 23.2).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0B0B0B"/>
                </a:solidFill>
              </a:rPr>
              <a:t>Abandonment: </a:t>
            </a:r>
            <a:r>
              <a:rPr sz="1200">
                <a:solidFill>
                  <a:srgbClr val="0B0B0B"/>
                </a:solidFill>
              </a:rPr>
              <a:t>reserve USD 411 k; trust MXN 6.94 MM.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Data available and open technical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0B0B0B"/>
                </a:solidFill>
              </a:rPr>
              <a:t>Data package: </a:t>
            </a:r>
            <a:r>
              <a:rPr sz="1400">
                <a:solidFill>
                  <a:srgbClr val="0B0B0B"/>
                </a:solidFill>
              </a:rPr>
              <a:t>reconciled production database 1956-2022; 21 pressure surveys on one datum; casing and completion table for all wells; TEC-10 logs, core and image log; TEC-9 and older logs; well tests and PTA; volumetrics; economics; PEMEX settlements; CNH filings.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0B0B0B"/>
                </a:solidFill>
              </a:rPr>
              <a:t>Located, to be opened natively: </a:t>
            </a:r>
            <a:r>
              <a:rPr sz="1400">
                <a:solidFill>
                  <a:srgbClr val="0B0B0B"/>
                </a:solidFill>
              </a:rPr>
              <a:t>PSDM volume (710 MB), Petrel project, two legacy PSTM SEG-Y (1.07 GB each); nine large LAS files; IFR Nov 2023 deck.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0B0B0B"/>
                </a:solidFill>
              </a:rPr>
              <a:t>Not in the data room: </a:t>
            </a:r>
            <a:r>
              <a:rPr sz="1400">
                <a:solidFill>
                  <a:srgbClr val="0B0B0B"/>
                </a:solidFill>
              </a:rPr>
              <a:t>Earth Signal and DMI gathers, angle stacks and velocity models; TEC-7 injection records; 2023 opex breakdown; TEC-6 2007 abandonment report; the Feb 2019 TEC-2 perforating ticket.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0B0B0B"/>
                </a:solidFill>
              </a:rPr>
              <a:t>Open technical items: </a:t>
            </a:r>
            <a:r>
              <a:rPr sz="1400">
                <a:solidFill>
                  <a:srgbClr val="0B0B0B"/>
                </a:solidFill>
              </a:rPr>
              <a:t>no laboratory PVT; no core electrical properties (m, n) or recent water analysis; per-well split of 2020-22 sales; TEC-11 and TEC-2 El Abra picks disputed.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0B0B0B"/>
                </a:solidFill>
              </a:rPr>
              <a:t>What TEC-12 resolves: </a:t>
            </a:r>
            <a:r>
              <a:rPr sz="1400">
                <a:solidFill>
                  <a:srgbClr val="0B0B0B"/>
                </a:solidFill>
              </a:rPr>
              <a:t>upper-El-Abra saturation and clay content, current contact and any gas cap at the crest, PVT, and the petrophysics behind the 4 MMbbl OOIP range.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Backup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Backup: well tests 1956-2019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1440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2377440"/>
                <a:gridCol w="1005840"/>
                <a:gridCol w="1645920"/>
                <a:gridCol w="2011680"/>
                <a:gridCol w="23774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Water / WC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Gas / GOR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FTP / notes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Feb-Mar 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DST 2,376.8-2,380.8 mKB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980 m oil in 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 m salt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gassy; 24 °API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SIP 230 kg/cm²; lowest known oil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 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2,307.4-2,321.7 mMD open 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 m³/d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1.5-9 %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47,702 m³/d; 1,163 m³/m³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174 kg/cm²; gas at the top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 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2,345-2,349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 m³/d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6-13 %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4,320 m³/d; 77 m³/m³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squeezed later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 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2,335-2,339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 m³/d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5-9 %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6,900 m³/d; 96 m³/m³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placed on production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Oct 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2,336-2,338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 m³/d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 mm choke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 1957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2,335-2,337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352 bbl/d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initial test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 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2,328-2,333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91.6 m³/d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initial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after solvent + 15 % HCl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 → 101.6 bbl/d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710 psi casing; then 33-46 bbl/d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2,307.4-2,311 + deep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 bbl/d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454 bbl/d (90 %)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220 Mcf/d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~500 psi; 7 days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Jul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2,349.5-2,353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182 bbl/d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 bbl/d (39 %)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146 Mcf/d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~880 psi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131 bbl/d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 bbl/d (49 %)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 Mcf/d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~520 psi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May-Sep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after plug + add-perf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 bbl/d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141 bbl/d (75 %)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 Mcf/d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~250 psi; 69 days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2,310-2,313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182 bbl/d (100 %)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~230 psi; converted to disposal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May-Jul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liner perfs 2,643.5-2,745.5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286 bbl/d (100 %)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~200 psi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Backup: pressure surveys at 2,300 mSS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514E"/>
                </a:solidFill>
              </a:defRPr>
            </a:pPr>
            <a:r>
              <a:t>Tecolutla field, Contract Area 24 - technical overview,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14400"/>
          <a:ext cx="1133856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2743200"/>
                <a:gridCol w="2377440"/>
                <a:gridCol w="365760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Pressure 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Note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1956-05-24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static (2 h 45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new well; 252 kg/cm²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1964-12-05/08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static (75-78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24.36-24.39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1964-12-08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static (95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1971-08 to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74-day build-up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23.24 → 24.35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 runs; 12 Aug reading under check (G-73)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1998-10-06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252.2 kg/cm²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2018-03-27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static after 2+ years shut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extrapolated 54 m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2018-05-30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build-up 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IHS; constant-pressure boundary 700 m</a:t>
                      </a:r>
                    </a:p>
                  </a:txBody>
                  <a:tcPr/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build-up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24.14 (gauge 2,316 mSS)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 18 mD, skin +5; boundary 195 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